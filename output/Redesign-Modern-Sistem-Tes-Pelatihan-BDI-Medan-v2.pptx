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c3719f29834c25" /><Relationship Type="http://schemas.openxmlformats.org/officeDocument/2006/relationships/extended-properties" Target="/docProps/app.xml" Id="R9a4b2f98efef490a" /><Relationship Type="http://schemas.openxmlformats.org/officeDocument/2006/relationships/officeDocument" Target="/ppt/presentation.xml" Id="R9ca915f461ab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ef8774c2a2414f"/>
  </p:sldMasterIdLst>
  <p:notesMasterIdLst>
    <p:notesMasterId xmlns:r="http://schemas.openxmlformats.org/officeDocument/2006/relationships" r:id="Ra811f0d95ac24360"/>
  </p:notesMasterIdLst>
  <p:sldIdLst>
    <p:sldId xmlns:r="http://schemas.openxmlformats.org/officeDocument/2006/relationships" id="256" r:id="R57f76de52b6f42a7"/>
    <p:sldId xmlns:r="http://schemas.openxmlformats.org/officeDocument/2006/relationships" id="257" r:id="R74d78854b0e34fc5"/>
    <p:sldId xmlns:r="http://schemas.openxmlformats.org/officeDocument/2006/relationships" id="258" r:id="R035962bf99184ccf"/>
    <p:sldId xmlns:r="http://schemas.openxmlformats.org/officeDocument/2006/relationships" id="259" r:id="Rca59e8ad8e5645b9"/>
    <p:sldId xmlns:r="http://schemas.openxmlformats.org/officeDocument/2006/relationships" id="260" r:id="R6046f15fbe154750"/>
    <p:sldId xmlns:r="http://schemas.openxmlformats.org/officeDocument/2006/relationships" id="261" r:id="Rc562d0aba37c4477"/>
    <p:sldId xmlns:r="http://schemas.openxmlformats.org/officeDocument/2006/relationships" id="262" r:id="R926c3466b0e64ff7"/>
    <p:sldId xmlns:r="http://schemas.openxmlformats.org/officeDocument/2006/relationships" id="263" r:id="Re2cb32f8d5b54f85"/>
    <p:sldId xmlns:r="http://schemas.openxmlformats.org/officeDocument/2006/relationships" id="264" r:id="Rfdb2d7ea7c534824"/>
    <p:sldId xmlns:r="http://schemas.openxmlformats.org/officeDocument/2006/relationships" id="265" r:id="Rde5defefc7274c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4b1cfff36648be" /><Relationship Type="http://schemas.openxmlformats.org/officeDocument/2006/relationships/slideMaster" Target="/ppt/slideMasters/slideMaster1.xml" Id="R5eef8774c2a2414f" /><Relationship Type="http://schemas.openxmlformats.org/officeDocument/2006/relationships/notesMaster" Target="/ppt/notesMasters/notesMaster1.xml" Id="Ra811f0d95ac24360" /><Relationship Type="http://schemas.openxmlformats.org/officeDocument/2006/relationships/presProps" Target="/ppt/presProps.xml" Id="Ra615cfa2218f4cbf" /><Relationship Type="http://schemas.openxmlformats.org/officeDocument/2006/relationships/tableStyles" Target="/ppt/tableStyles.xml" Id="R6d48e72dc89d47b0" /><Relationship Type="http://schemas.openxmlformats.org/officeDocument/2006/relationships/slide" Target="/ppt/slides/slide1.xml" Id="R57f76de52b6f42a7" /><Relationship Type="http://schemas.openxmlformats.org/officeDocument/2006/relationships/slide" Target="/ppt/slides/slide2.xml" Id="R74d78854b0e34fc5" /><Relationship Type="http://schemas.openxmlformats.org/officeDocument/2006/relationships/slide" Target="/ppt/slides/slide3.xml" Id="R035962bf99184ccf" /><Relationship Type="http://schemas.openxmlformats.org/officeDocument/2006/relationships/slide" Target="/ppt/slides/slide4.xml" Id="Rca59e8ad8e5645b9" /><Relationship Type="http://schemas.openxmlformats.org/officeDocument/2006/relationships/slide" Target="/ppt/slides/slide5.xml" Id="R6046f15fbe154750" /><Relationship Type="http://schemas.openxmlformats.org/officeDocument/2006/relationships/slide" Target="/ppt/slides/slide6.xml" Id="Rc562d0aba37c4477" /><Relationship Type="http://schemas.openxmlformats.org/officeDocument/2006/relationships/slide" Target="/ppt/slides/slide7.xml" Id="R926c3466b0e64ff7" /><Relationship Type="http://schemas.openxmlformats.org/officeDocument/2006/relationships/slide" Target="/ppt/slides/slide8.xml" Id="Re2cb32f8d5b54f85" /><Relationship Type="http://schemas.openxmlformats.org/officeDocument/2006/relationships/slide" Target="/ppt/slides/slide9.xml" Id="Rfdb2d7ea7c534824" /><Relationship Type="http://schemas.openxmlformats.org/officeDocument/2006/relationships/slide" Target="/ppt/slides/slide10.xml" Id="Rde5defefc727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cb774a31ea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6bcb2211a94c4b" /><Relationship Type="http://schemas.openxmlformats.org/officeDocument/2006/relationships/notesMaster" Target="/ppt/notesMasters/notesMaster1.xml" Id="Rb2b696bc3f4e4f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fb6e2fff7a4069" /><Relationship Type="http://schemas.openxmlformats.org/officeDocument/2006/relationships/notesMaster" Target="/ppt/notesMasters/notesMaster1.xml" Id="R8f3fb0fabedf49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db63910d2e46f1" /><Relationship Type="http://schemas.openxmlformats.org/officeDocument/2006/relationships/notesMaster" Target="/ppt/notesMasters/notesMaster1.xml" Id="R0f22f16fd7f44e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9fe67e2a7d4008" /><Relationship Type="http://schemas.openxmlformats.org/officeDocument/2006/relationships/notesMaster" Target="/ppt/notesMasters/notesMaster1.xml" Id="R0878c4f677a347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2b59b72bb4c3f" /><Relationship Type="http://schemas.openxmlformats.org/officeDocument/2006/relationships/notesMaster" Target="/ppt/notesMasters/notesMaster1.xml" Id="R5e8e17ec852549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fdcf67524f463b" /><Relationship Type="http://schemas.openxmlformats.org/officeDocument/2006/relationships/notesMaster" Target="/ppt/notesMasters/notesMaster1.xml" Id="R3f3fad6984b545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ba4a401d064264" /><Relationship Type="http://schemas.openxmlformats.org/officeDocument/2006/relationships/notesMaster" Target="/ppt/notesMasters/notesMaster1.xml" Id="Rbb77dd04735d4d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931e83b979470c" /><Relationship Type="http://schemas.openxmlformats.org/officeDocument/2006/relationships/notesMaster" Target="/ppt/notesMasters/notesMaster1.xml" Id="Rc645eeaca27948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47506de915447e" /><Relationship Type="http://schemas.openxmlformats.org/officeDocument/2006/relationships/notesMaster" Target="/ppt/notesMasters/notesMaster1.xml" Id="R970aa1de5123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b79d8bee114b34" /><Relationship Type="http://schemas.openxmlformats.org/officeDocument/2006/relationships/notesMaster" Target="/ppt/notesMasters/notesMaster1.xml" Id="R9643472ae09146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Selamat datang. Presentasi ini memaparkan rancangan Sistem Tes Pelatihan BDI Medan untuk mendigitalkan seluruh siklus evaluasi dan sertifikasi.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Bagan ini merangkum pergeseran dari proses konvensional yang manual menuju pipeline digital utuh dari pendaftaran hingga penerbitan sertifikat.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peserta dikunci ke angkatan masing-masing dengan validasi NIK sehingga data riwayat ujian dan sertifikasi selalu valid.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Pengacakan soal menjamin integritas pengujian antar peserta tanpa menambah beban administrasi bagi instruktur.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Alur dibuat seringkas mungkin agar peserta dari berbagai latar belakang dapat langsung mengerjakan ujian tanpa kendala teknis.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Penambahan durasi 7 menit tiap remedial memberi kesempatan adil bagi peserta tanpa membuka celah pengulangan tanpa batas.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log mencegah kecurangan nilai dan memastikan evaluasi mutu diklat memiliki rekam jejak formal yang siap diaudit.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Standarisasi otomatis menghapus kesalahan ketik nama, ketidaksesuaian nomor surat, dan penundaan pencetakan sertifikat.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Penutup menegaskan nilai strategis digitalisasi sistem pengujian BDI Medan menuju standar mutu pelatihan industri yang modern.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c991fe23848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f5c92a7aed4e7f" /><Relationship Type="http://schemas.openxmlformats.org/officeDocument/2006/relationships/slideLayout" Target="/ppt/slideLayouts/slideLayout1.xml" Id="R77004c4db41644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04c4db41644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d21fa47624839" /><Relationship Type="http://schemas.openxmlformats.org/officeDocument/2006/relationships/image" Target="/ppt/media/image.jpeg" Id="Rf3fa4062c19f44bc" /><Relationship Type="http://schemas.openxmlformats.org/officeDocument/2006/relationships/notesSlide" Target="/ppt/notesSlides/notesSlide1.xml" Id="R4611df43060b48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aeb533cfe4dfd" /><Relationship Type="http://schemas.openxmlformats.org/officeDocument/2006/relationships/notesSlide" Target="/ppt/notesSlides/notesSlide2.xml" Id="R86c45fe74ee640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38c2193c7415a" /><Relationship Type="http://schemas.openxmlformats.org/officeDocument/2006/relationships/notesSlide" Target="/ppt/notesSlides/notesSlide3.xml" Id="R1fd014601b40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471a6ea0e4553" /><Relationship Type="http://schemas.openxmlformats.org/officeDocument/2006/relationships/notesSlide" Target="/ppt/notesSlides/notesSlide4.xml" Id="Rd35add6bb30f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af0c4af534f6a" /><Relationship Type="http://schemas.openxmlformats.org/officeDocument/2006/relationships/notesSlide" Target="/ppt/notesSlides/notesSlide5.xml" Id="R3bfea832c1c94e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1ab5deffd4af6" /><Relationship Type="http://schemas.openxmlformats.org/officeDocument/2006/relationships/notesSlide" Target="/ppt/notesSlides/notesSlide6.xml" Id="R1a5fb325499a4d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9fba918b149a3" /><Relationship Type="http://schemas.openxmlformats.org/officeDocument/2006/relationships/notesSlide" Target="/ppt/notesSlides/notesSlide7.xml" Id="Rc80086738c20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8b8d8efc84c2e" /><Relationship Type="http://schemas.openxmlformats.org/officeDocument/2006/relationships/notesSlide" Target="/ppt/notesSlides/notesSlide8.xml" Id="R73e6463db7824b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382fe2b54951" /><Relationship Type="http://schemas.openxmlformats.org/officeDocument/2006/relationships/notesSlide" Target="/ppt/notesSlides/notesSlide9.xml" Id="Raeab5634036b4d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f855a00234f40" /><Relationship Type="http://schemas.openxmlformats.org/officeDocument/2006/relationships/notesSlide" Target="/ppt/notesSlides/notesSlide10.xml" Id="R3422beb71d9241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4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ver-navy-field">
            <a:extLst xmlns:a="http://schemas.openxmlformats.org/drawingml/2006/main">
              <a:ext uri="{FF2B5EF4-FFF2-40B4-BE49-F238E27FC236}">
                <a16:creationId xmlns:a16="http://schemas.microsoft.com/office/drawing/2014/main" id="{C10F97B0-E405-471B-8E00-DD077D9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yellow-rule">
            <a:extLst xmlns:a="http://schemas.openxmlformats.org/drawingml/2006/main">
              <a:ext uri="{FF2B5EF4-FFF2-40B4-BE49-F238E27FC236}">
                <a16:creationId xmlns:a16="http://schemas.microsoft.com/office/drawing/2014/main" id="{4122F8FC-33DC-46EE-AF81-3E0DEB57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org">
            <a:extLst xmlns:a="http://schemas.openxmlformats.org/drawingml/2006/main">
              <a:ext uri="{FF2B5EF4-FFF2-40B4-BE49-F238E27FC236}">
                <a16:creationId xmlns:a16="http://schemas.microsoft.com/office/drawing/2014/main" id="{8F5F6FF3-8E2B-4D72-AD03-479DB8F2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BALAI DIKLAT INDUSTRI MEDAN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F82F625-0B54-4773-80E3-ECB91311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09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SISTEM TES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PELATIHAN BDI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4ACC21-E1CE-4ACE-BD9D-FCED2062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Digitalisasi Pengelolaan Pelatihan, Tes, Evaluasi, dan Sertifikasi</a:t>
            </a:r>
          </a:p>
        </p:txBody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D5B9990B-A6C3-4C3C-B861-F4079CC8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CAD4F6"/>
                </a:solidFill>
                <a:latin typeface="Host Grotesk"/>
                <a:ea typeface="Host Grotesk"/>
                <a:cs typeface="Host Grotesk"/>
              </a:defRPr>
            </a:pPr>
            <a:r>
              <a:rPr sz="1125" b="0">
                <a:solidFill>
                  <a:srgbClr val="CAD4F6"/>
                </a:solidFill>
                <a:latin typeface="Host Grotesk"/>
                <a:ea typeface="Host Grotesk"/>
                <a:cs typeface="Host Grotesk"/>
              </a:rPr>
              <a:t>[Catatan: Tambahkan logo BDI dan foto kegiatan pelatihan; hapus catatan ini setelah selesai.]</a:t>
            </a:r>
          </a:p>
        </p:txBody>
      </p:sp>
      <p:sp>
        <p:nvSpPr>
          <p:cNvPr id="7" name="cover-logo-box">
            <a:extLst xmlns:a="http://schemas.openxmlformats.org/drawingml/2006/main">
              <a:ext uri="{FF2B5EF4-FFF2-40B4-BE49-F238E27FC236}">
                <a16:creationId xmlns:a16="http://schemas.microsoft.com/office/drawing/2014/main" id="{247EB6FB-6AED-4A6B-8ABE-670E7FB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09600"/>
            <a:ext cx="3810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a4062c19f44bc"/>
          <a:stretch xmlns:a="http://schemas.openxmlformats.org/drawingml/2006/main"/>
        </p:blipFill>
        <p:spPr>
          <a:xfrm xmlns:a="http://schemas.openxmlformats.org/drawingml/2006/main">
            <a:off x="8275226" y="762000"/>
            <a:ext cx="2804348" cy="838200"/>
          </a:xfrm>
          <a:prstGeom xmlns:a="http://schemas.openxmlformats.org/drawingml/2006/main" prst="rect">
            <a:avLst/>
          </a:prstGeom>
        </p:spPr>
      </p:pic>
      <p:sp>
        <p:nvSpPr>
          <p:cNvPr id="9" name="cover-photo-shadow">
            <a:extLst xmlns:a="http://schemas.openxmlformats.org/drawingml/2006/main">
              <a:ext uri="{FF2B5EF4-FFF2-40B4-BE49-F238E27FC236}">
                <a16:creationId xmlns:a16="http://schemas.microsoft.com/office/drawing/2014/main" id="{0D92C6EC-D454-4144-A515-EB85E0FD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381000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102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photo-frame">
            <a:extLst xmlns:a="http://schemas.openxmlformats.org/drawingml/2006/main">
              <a:ext uri="{FF2B5EF4-FFF2-40B4-BE49-F238E27FC236}">
                <a16:creationId xmlns:a16="http://schemas.microsoft.com/office/drawing/2014/main" id="{272EDC88-070A-4856-B3AD-17B795AC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81000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11430">
            <a:solidFill>
              <a:srgbClr val="7890F6"/>
            </a:solidFill>
            <a:prstDash val="solid"/>
          </a:ln>
        </p:spPr>
      </p:sp>
      <p:sp>
        <p:nvSpPr>
          <p:cNvPr id="11" name="cover-photo-toolbar">
            <a:extLst xmlns:a="http://schemas.openxmlformats.org/drawingml/2006/main">
              <a:ext uri="{FF2B5EF4-FFF2-40B4-BE49-F238E27FC236}">
                <a16:creationId xmlns:a16="http://schemas.microsoft.com/office/drawing/2014/main" id="{7445DF0D-272A-4767-A0C4-2BABDDA8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810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102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hoto-dot-0">
            <a:extLst xmlns:a="http://schemas.openxmlformats.org/drawingml/2006/main">
              <a:ext uri="{FF2B5EF4-FFF2-40B4-BE49-F238E27FC236}">
                <a16:creationId xmlns:a16="http://schemas.microsoft.com/office/drawing/2014/main" id="{8F979D4E-352F-4FDD-89CF-EDF758D3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photo-dot-1">
            <a:extLst xmlns:a="http://schemas.openxmlformats.org/drawingml/2006/main">
              <a:ext uri="{FF2B5EF4-FFF2-40B4-BE49-F238E27FC236}">
                <a16:creationId xmlns:a16="http://schemas.microsoft.com/office/drawing/2014/main" id="{6ED4F322-9214-4357-8D62-88D67A0E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photo-dot-2">
            <a:extLst xmlns:a="http://schemas.openxmlformats.org/drawingml/2006/main">
              <a:ext uri="{FF2B5EF4-FFF2-40B4-BE49-F238E27FC236}">
                <a16:creationId xmlns:a16="http://schemas.microsoft.com/office/drawing/2014/main" id="{1E533462-4200-4AF5-9515-C49CE8A4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photo-drop-zone">
            <a:extLst xmlns:a="http://schemas.openxmlformats.org/drawingml/2006/main">
              <a:ext uri="{FF2B5EF4-FFF2-40B4-BE49-F238E27FC236}">
                <a16:creationId xmlns:a16="http://schemas.microsoft.com/office/drawing/2014/main" id="{7D34B374-8244-46C2-A566-1A227E9A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3467100" cy="2305050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102A86"/>
          </a:solidFill>
          <a:ln xmlns:a="http://schemas.openxmlformats.org/drawingml/2006/main" w="11430">
            <a:solidFill>
              <a:srgbClr val="7890F6"/>
            </a:solidFill>
            <a:prstDash val="solid"/>
          </a:ln>
        </p:spPr>
      </p:sp>
      <p:sp>
        <p:nvSpPr>
          <p:cNvPr id="16" name="cover-photo-label">
            <a:extLst xmlns:a="http://schemas.openxmlformats.org/drawingml/2006/main">
              <a:ext uri="{FF2B5EF4-FFF2-40B4-BE49-F238E27FC236}">
                <a16:creationId xmlns:a16="http://schemas.microsoft.com/office/drawing/2014/main" id="{712F9AEA-18CF-44A7-A08F-AA0E5CC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7293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[Masukkan Foto Kegiatan]</a:t>
            </a:r>
          </a:p>
        </p:txBody>
      </p:sp>
      <p:sp>
        <p:nvSpPr>
          <p:cNvPr id="17" name="cover-photo-caption">
            <a:extLst xmlns:a="http://schemas.openxmlformats.org/drawingml/2006/main">
              <a:ext uri="{FF2B5EF4-FFF2-40B4-BE49-F238E27FC236}">
                <a16:creationId xmlns:a16="http://schemas.microsoft.com/office/drawing/2014/main" id="{ABA430ED-C438-46D4-BFFF-B66525B4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Foto kegiatan pelatihan</a:t>
            </a:r>
          </a:p>
        </p:txBody>
      </p:sp>
      <p:sp>
        <p:nvSpPr>
          <p:cNvPr id="18" name="page-1">
            <a:extLst xmlns:a="http://schemas.openxmlformats.org/drawingml/2006/main">
              <a:ext uri="{FF2B5EF4-FFF2-40B4-BE49-F238E27FC236}">
                <a16:creationId xmlns:a16="http://schemas.microsoft.com/office/drawing/2014/main" id="{A2FB9EB2-CFA5-4601-8A8B-56EB657B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5399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-2">
            <a:extLst xmlns:a="http://schemas.openxmlformats.org/drawingml/2006/main">
              <a:ext uri="{FF2B5EF4-FFF2-40B4-BE49-F238E27FC236}">
                <a16:creationId xmlns:a16="http://schemas.microsoft.com/office/drawing/2014/main" id="{384EBF19-C5AB-456B-8D71-AF36CA0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65CDDF7F-0B80-4BF3-BD53-CB28866C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TRANSFORMASI DIGITAL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D875087-4FE6-46E5-B280-100BFC2A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25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SATU SISTEM MENGHUBUNGKAN PROSES PELATIHAN DARI AWAL HINGGA SERTIFIKAT</a:t>
            </a:r>
          </a:p>
        </p:txBody>
      </p:sp>
      <p:sp>
        <p:nvSpPr>
          <p:cNvPr id="4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22BB9BB2-4EBF-47B5-A32D-1A8B5A48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8B68F39E-B41E-46EA-A4BC-3F7D7C7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6" name="problem-band">
            <a:extLst xmlns:a="http://schemas.openxmlformats.org/drawingml/2006/main">
              <a:ext uri="{FF2B5EF4-FFF2-40B4-BE49-F238E27FC236}">
                <a16:creationId xmlns:a16="http://schemas.microsoft.com/office/drawing/2014/main" id="{BCEA5248-0D7F-434D-9B97-ED029892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62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AC4ED663-6D59-4B43-A6A2-B91C12AD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Masalah Operasional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BBA026CB-9A23-49CB-B9B2-3380FB4E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Administrasi peserta masih manual; hasil tes sulit dipantau; remedial belum terstruktur; sertifikat membutuhkan waktu.</a:t>
            </a:r>
          </a:p>
        </p:txBody>
      </p:sp>
      <p:sp>
        <p:nvSpPr>
          <p:cNvPr id="9" name="solution-band">
            <a:extLst xmlns:a="http://schemas.openxmlformats.org/drawingml/2006/main">
              <a:ext uri="{FF2B5EF4-FFF2-40B4-BE49-F238E27FC236}">
                <a16:creationId xmlns:a16="http://schemas.microsoft.com/office/drawing/2014/main" id="{4114670B-1AC5-4C0C-BE79-548796F9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5543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314E7A5A-07EA-4276-83AB-C4916EAB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Solusi Terpadu</a:t>
            </a:r>
          </a:p>
        </p:txBody>
      </p:sp>
      <p:sp>
        <p:nvSpPr>
          <p:cNvPr id="11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BC4D2B3D-1BE2-4499-9FA1-607BA6C3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876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Satu sistem terintegrasi mengelola seluruh proses dengan lebih tertib dan terdokumentasi.</a:t>
            </a:r>
          </a:p>
        </p:txBody>
      </p:sp>
      <p:sp>
        <p:nvSpPr>
          <p:cNvPr id="12" name="flow-label">
            <a:extLst xmlns:a="http://schemas.openxmlformats.org/drawingml/2006/main">
              <a:ext uri="{FF2B5EF4-FFF2-40B4-BE49-F238E27FC236}">
                <a16:creationId xmlns:a16="http://schemas.microsoft.com/office/drawing/2014/main" id="{4888D1B8-5D06-4338-9406-CA41700C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ALUR KERJA TERPADU END-TO-END</a:t>
            </a:r>
          </a:p>
        </p:txBody>
      </p:sp>
      <p:sp>
        <p:nvSpPr>
          <p:cNvPr id="13" name="flow-surface">
            <a:extLst xmlns:a="http://schemas.openxmlformats.org/drawingml/2006/main">
              <a:ext uri="{FF2B5EF4-FFF2-40B4-BE49-F238E27FC236}">
                <a16:creationId xmlns:a16="http://schemas.microsoft.com/office/drawing/2014/main" id="{53F2B420-BFDF-4272-816C-686A54D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F6"/>
            </a:solidFill>
            <a:prstDash val="solid"/>
          </a:ln>
        </p:spPr>
      </p:sp>
      <p:sp>
        <p:nvSpPr>
          <p:cNvPr id="14" name="flow-copy">
            <a:extLst xmlns:a="http://schemas.openxmlformats.org/drawingml/2006/main">
              <a:ext uri="{FF2B5EF4-FFF2-40B4-BE49-F238E27FC236}">
                <a16:creationId xmlns:a16="http://schemas.microsoft.com/office/drawing/2014/main" id="{C5766D57-7A00-4AA6-87DB-5824A71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040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Pelatihan → Peserta → Bank Soal → Tes → Hasil → Evaluasi → Sertifikat</a:t>
            </a:r>
          </a:p>
        </p:txBody>
      </p:sp>
    </p:spTree>
    <p:extLst>
      <p:ext uri="{BB962C8B-B14F-4D97-AF65-F5344CB8AC3E}">
        <p14:creationId xmlns:p14="http://schemas.microsoft.com/office/powerpoint/2010/main" val="325325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3">
            <a:extLst xmlns:a="http://schemas.openxmlformats.org/drawingml/2006/main">
              <a:ext uri="{FF2B5EF4-FFF2-40B4-BE49-F238E27FC236}">
                <a16:creationId xmlns:a16="http://schemas.microsoft.com/office/drawing/2014/main" id="{4DC72AEC-3CB2-48C0-B870-9F94A478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DFE1251E-2263-4C90-A08F-7AA4482E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MODUL ADMINISTRATOR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C80AC28-D1ED-411C-BE27-62941BE6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DASHBOARD ADMIN MENJADI PUSAT KENDALI PELATIHAN</a:t>
            </a:r>
          </a:p>
        </p:txBody>
      </p:sp>
      <p:sp>
        <p:nvSpPr>
          <p:cNvPr id="4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9B27BC2E-8795-48A7-9A0C-5A7ACA1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E7D1E0E-DCD3-4D1E-B904-B4C49DF1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6" name="row-num-1-220">
            <a:extLst xmlns:a="http://schemas.openxmlformats.org/drawingml/2006/main">
              <a:ext uri="{FF2B5EF4-FFF2-40B4-BE49-F238E27FC236}">
                <a16:creationId xmlns:a16="http://schemas.microsoft.com/office/drawing/2014/main" id="{46B1CD6A-4566-4E49-840B-7E8E80F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row-title-1-220">
            <a:extLst xmlns:a="http://schemas.openxmlformats.org/drawingml/2006/main">
              <a:ext uri="{FF2B5EF4-FFF2-40B4-BE49-F238E27FC236}">
                <a16:creationId xmlns:a16="http://schemas.microsoft.com/office/drawing/2014/main" id="{00971795-6E6D-45C7-AC04-18CE8586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Program &amp; materi:</a:t>
            </a:r>
          </a:p>
        </p:txBody>
      </p:sp>
      <p:sp>
        <p:nvSpPr>
          <p:cNvPr id="8" name="row-body-1-220">
            <a:extLst xmlns:a="http://schemas.openxmlformats.org/drawingml/2006/main">
              <a:ext uri="{FF2B5EF4-FFF2-40B4-BE49-F238E27FC236}">
                <a16:creationId xmlns:a16="http://schemas.microsoft.com/office/drawing/2014/main" id="{54601CA8-44FD-494C-A078-7863EF5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Membuat pelatihan, materi, angkatan, jumlah JPL, dan kode unit kompetensi.</a:t>
            </a:r>
          </a:p>
        </p:txBody>
      </p:sp>
      <p:sp>
        <p:nvSpPr>
          <p:cNvPr id="9" name="row-rule-1-220">
            <a:extLst xmlns:a="http://schemas.openxmlformats.org/drawingml/2006/main">
              <a:ext uri="{FF2B5EF4-FFF2-40B4-BE49-F238E27FC236}">
                <a16:creationId xmlns:a16="http://schemas.microsoft.com/office/drawing/2014/main" id="{61B95BA9-7002-44F8-A415-9FE055BD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956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num-2-344">
            <a:extLst xmlns:a="http://schemas.openxmlformats.org/drawingml/2006/main">
              <a:ext uri="{FF2B5EF4-FFF2-40B4-BE49-F238E27FC236}">
                <a16:creationId xmlns:a16="http://schemas.microsoft.com/office/drawing/2014/main" id="{60364E75-A7C3-4594-ACEE-B508942F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row-title-2-344">
            <a:extLst xmlns:a="http://schemas.openxmlformats.org/drawingml/2006/main">
              <a:ext uri="{FF2B5EF4-FFF2-40B4-BE49-F238E27FC236}">
                <a16:creationId xmlns:a16="http://schemas.microsoft.com/office/drawing/2014/main" id="{7A3C9F8D-D85F-40D6-8E87-65AFF186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Jadwal:</a:t>
            </a:r>
          </a:p>
        </p:txBody>
      </p:sp>
      <p:sp>
        <p:nvSpPr>
          <p:cNvPr id="12" name="row-body-2-344">
            <a:extLst xmlns:a="http://schemas.openxmlformats.org/drawingml/2006/main">
              <a:ext uri="{FF2B5EF4-FFF2-40B4-BE49-F238E27FC236}">
                <a16:creationId xmlns:a16="http://schemas.microsoft.com/office/drawing/2014/main" id="{483502A8-F831-4510-B310-B3803534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Mengatur jadwal Pre-Test dan Post-Test.</a:t>
            </a:r>
          </a:p>
        </p:txBody>
      </p:sp>
      <p:sp>
        <p:nvSpPr>
          <p:cNvPr id="13" name="row-rule-2-344">
            <a:extLst xmlns:a="http://schemas.openxmlformats.org/drawingml/2006/main">
              <a:ext uri="{FF2B5EF4-FFF2-40B4-BE49-F238E27FC236}">
                <a16:creationId xmlns:a16="http://schemas.microsoft.com/office/drawing/2014/main" id="{17144B65-0B98-4F40-ABF6-63C1B54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67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w-num-3-468">
            <a:extLst xmlns:a="http://schemas.openxmlformats.org/drawingml/2006/main">
              <a:ext uri="{FF2B5EF4-FFF2-40B4-BE49-F238E27FC236}">
                <a16:creationId xmlns:a16="http://schemas.microsoft.com/office/drawing/2014/main" id="{A2A814B1-8738-4DF1-903F-C999B6D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5" name="row-title-3-468">
            <a:extLst xmlns:a="http://schemas.openxmlformats.org/drawingml/2006/main">
              <a:ext uri="{FF2B5EF4-FFF2-40B4-BE49-F238E27FC236}">
                <a16:creationId xmlns:a16="http://schemas.microsoft.com/office/drawing/2014/main" id="{60384A85-772D-4D8F-878C-A233273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Monitoring:</a:t>
            </a:r>
          </a:p>
        </p:txBody>
      </p:sp>
      <p:sp>
        <p:nvSpPr>
          <p:cNvPr id="16" name="row-body-3-468">
            <a:extLst xmlns:a="http://schemas.openxmlformats.org/drawingml/2006/main">
              <a:ext uri="{FF2B5EF4-FFF2-40B4-BE49-F238E27FC236}">
                <a16:creationId xmlns:a16="http://schemas.microsoft.com/office/drawing/2014/main" id="{21B232F6-BC6A-4E24-BE67-B6F911C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Memantau pelatihan aktif dan aktivitas sistem.</a:t>
            </a:r>
          </a:p>
        </p:txBody>
      </p:sp>
      <p:sp>
        <p:nvSpPr>
          <p:cNvPr id="17" name="row-rule-3-468">
            <a:extLst xmlns:a="http://schemas.openxmlformats.org/drawingml/2006/main">
              <a:ext uri="{FF2B5EF4-FFF2-40B4-BE49-F238E27FC236}">
                <a16:creationId xmlns:a16="http://schemas.microsoft.com/office/drawing/2014/main" id="{5052ED66-608B-4347-9531-B41E2E1A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578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dmin-shot-shadow">
            <a:extLst xmlns:a="http://schemas.openxmlformats.org/drawingml/2006/main">
              <a:ext uri="{FF2B5EF4-FFF2-40B4-BE49-F238E27FC236}">
                <a16:creationId xmlns:a16="http://schemas.microsoft.com/office/drawing/2014/main" id="{F3ACAD21-EE47-4FE7-A696-8D88DD3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dmin-shot-frame">
            <a:extLst xmlns:a="http://schemas.openxmlformats.org/drawingml/2006/main">
              <a:ext uri="{FF2B5EF4-FFF2-40B4-BE49-F238E27FC236}">
                <a16:creationId xmlns:a16="http://schemas.microsoft.com/office/drawing/2014/main" id="{14FD57B4-A34B-479A-9ADF-293B5B0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0" name="admin-shot-toolbar">
            <a:extLst xmlns:a="http://schemas.openxmlformats.org/drawingml/2006/main">
              <a:ext uri="{FF2B5EF4-FFF2-40B4-BE49-F238E27FC236}">
                <a16:creationId xmlns:a16="http://schemas.microsoft.com/office/drawing/2014/main" id="{3BA046A7-E5D6-480E-9972-BBCA83DD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dmin-shot-dot-0">
            <a:extLst xmlns:a="http://schemas.openxmlformats.org/drawingml/2006/main">
              <a:ext uri="{FF2B5EF4-FFF2-40B4-BE49-F238E27FC236}">
                <a16:creationId xmlns:a16="http://schemas.microsoft.com/office/drawing/2014/main" id="{2CBC6813-D7C9-4E72-8D42-5610D003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dmin-shot-dot-1">
            <a:extLst xmlns:a="http://schemas.openxmlformats.org/drawingml/2006/main">
              <a:ext uri="{FF2B5EF4-FFF2-40B4-BE49-F238E27FC236}">
                <a16:creationId xmlns:a16="http://schemas.microsoft.com/office/drawing/2014/main" id="{8EDE65C4-0BE6-4213-B25F-DE8AA2A4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dmin-shot-dot-2">
            <a:extLst xmlns:a="http://schemas.openxmlformats.org/drawingml/2006/main">
              <a:ext uri="{FF2B5EF4-FFF2-40B4-BE49-F238E27FC236}">
                <a16:creationId xmlns:a16="http://schemas.microsoft.com/office/drawing/2014/main" id="{1EE58C6B-A044-4E1A-BD72-0B87AB9B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dmin-shot-drop-zone">
            <a:extLst xmlns:a="http://schemas.openxmlformats.org/drawingml/2006/main">
              <a:ext uri="{FF2B5EF4-FFF2-40B4-BE49-F238E27FC236}">
                <a16:creationId xmlns:a16="http://schemas.microsoft.com/office/drawing/2014/main" id="{C6A39686-D436-4914-9B93-D9C25BC3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3815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5" name="admin-shot-label">
            <a:extLst xmlns:a="http://schemas.openxmlformats.org/drawingml/2006/main">
              <a:ext uri="{FF2B5EF4-FFF2-40B4-BE49-F238E27FC236}">
                <a16:creationId xmlns:a16="http://schemas.microsoft.com/office/drawing/2014/main" id="{AB4D862D-6BE5-40DC-943F-B3DAF806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80994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6" name="admin-shot-caption">
            <a:extLst xmlns:a="http://schemas.openxmlformats.org/drawingml/2006/main">
              <a:ext uri="{FF2B5EF4-FFF2-40B4-BE49-F238E27FC236}">
                <a16:creationId xmlns:a16="http://schemas.microsoft.com/office/drawing/2014/main" id="{EDE08EAD-4829-4E58-BDD3-96F0CC2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Tampilan Dashboard Admin &amp; Setup Diklat</a:t>
            </a:r>
          </a:p>
        </p:txBody>
      </p:sp>
      <p:sp>
        <p:nvSpPr>
          <p:cNvPr id="27" name="admin-shot-note">
            <a:extLst xmlns:a="http://schemas.openxmlformats.org/drawingml/2006/main">
              <a:ext uri="{FF2B5EF4-FFF2-40B4-BE49-F238E27FC236}">
                <a16:creationId xmlns:a16="http://schemas.microsoft.com/office/drawing/2014/main" id="{CCB2E25C-1896-4A0D-99B6-8C456EF6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293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Pilih screenshot Dashboard atau Pelatihan &amp; Materi;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1843686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4">
            <a:extLst xmlns:a="http://schemas.openxmlformats.org/drawingml/2006/main">
              <a:ext uri="{FF2B5EF4-FFF2-40B4-BE49-F238E27FC236}">
                <a16:creationId xmlns:a16="http://schemas.microsoft.com/office/drawing/2014/main" id="{060EE39A-59FB-4038-AE53-71F3CEA7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93B57FF5-CF9B-4B3D-83EB-0274D05E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MANAJEMEN PESERTA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CB6F8CC5-4CA4-459A-A364-1C5FCF8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DATA PESERTA DAN ANGKATAN TERSIMPAN TERPUSAT</a:t>
            </a:r>
          </a:p>
        </p:txBody>
      </p:sp>
      <p:sp>
        <p:nvSpPr>
          <p:cNvPr id="4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E7C8084C-523C-44BC-87AB-D89BA971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92639CC-6E75-43D2-8C25-D7E7EB6F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6" name="row-num-1-220">
            <a:extLst xmlns:a="http://schemas.openxmlformats.org/drawingml/2006/main">
              <a:ext uri="{FF2B5EF4-FFF2-40B4-BE49-F238E27FC236}">
                <a16:creationId xmlns:a16="http://schemas.microsoft.com/office/drawing/2014/main" id="{ABB9857E-0FFA-4839-8931-1244488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row-title-1-220">
            <a:extLst xmlns:a="http://schemas.openxmlformats.org/drawingml/2006/main">
              <a:ext uri="{FF2B5EF4-FFF2-40B4-BE49-F238E27FC236}">
                <a16:creationId xmlns:a16="http://schemas.microsoft.com/office/drawing/2014/main" id="{5B23C892-2F01-4BD0-B3A2-8B355841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Input Fleksibel &amp; Massal</a:t>
            </a:r>
          </a:p>
        </p:txBody>
      </p:sp>
      <p:sp>
        <p:nvSpPr>
          <p:cNvPr id="8" name="row-body-1-220">
            <a:extLst xmlns:a="http://schemas.openxmlformats.org/drawingml/2006/main">
              <a:ext uri="{FF2B5EF4-FFF2-40B4-BE49-F238E27FC236}">
                <a16:creationId xmlns:a16="http://schemas.microsoft.com/office/drawing/2014/main" id="{C04AEAA8-EF35-4412-9542-6CB71D41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Tambah peserta secara manual atau melalui upload.</a:t>
            </a:r>
          </a:p>
        </p:txBody>
      </p:sp>
      <p:sp>
        <p:nvSpPr>
          <p:cNvPr id="9" name="row-rule-1-220">
            <a:extLst xmlns:a="http://schemas.openxmlformats.org/drawingml/2006/main">
              <a:ext uri="{FF2B5EF4-FFF2-40B4-BE49-F238E27FC236}">
                <a16:creationId xmlns:a16="http://schemas.microsoft.com/office/drawing/2014/main" id="{D067463D-6E37-4A5A-AF58-66005C8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956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num-2-344">
            <a:extLst xmlns:a="http://schemas.openxmlformats.org/drawingml/2006/main">
              <a:ext uri="{FF2B5EF4-FFF2-40B4-BE49-F238E27FC236}">
                <a16:creationId xmlns:a16="http://schemas.microsoft.com/office/drawing/2014/main" id="{BD6C3B1B-8396-4515-A3C8-74463032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row-title-2-344">
            <a:extLst xmlns:a="http://schemas.openxmlformats.org/drawingml/2006/main">
              <a:ext uri="{FF2B5EF4-FFF2-40B4-BE49-F238E27FC236}">
                <a16:creationId xmlns:a16="http://schemas.microsoft.com/office/drawing/2014/main" id="{BC73845F-93D4-4355-8C7B-924331A9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Identitas Lengkap &amp; Status Angkatan</a:t>
            </a:r>
          </a:p>
        </p:txBody>
      </p:sp>
      <p:sp>
        <p:nvSpPr>
          <p:cNvPr id="12" name="row-body-2-344">
            <a:extLst xmlns:a="http://schemas.openxmlformats.org/drawingml/2006/main">
              <a:ext uri="{FF2B5EF4-FFF2-40B4-BE49-F238E27FC236}">
                <a16:creationId xmlns:a16="http://schemas.microsoft.com/office/drawing/2014/main" id="{5B643B3F-931D-418F-BB32-33E9E00B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Kelola nama, NIK, foto, pelatihan, angkatan, dan status aktif/nonaktif.</a:t>
            </a:r>
          </a:p>
        </p:txBody>
      </p:sp>
      <p:sp>
        <p:nvSpPr>
          <p:cNvPr id="13" name="row-rule-2-344">
            <a:extLst xmlns:a="http://schemas.openxmlformats.org/drawingml/2006/main">
              <a:ext uri="{FF2B5EF4-FFF2-40B4-BE49-F238E27FC236}">
                <a16:creationId xmlns:a16="http://schemas.microsoft.com/office/drawing/2014/main" id="{B7E8100C-8653-430D-858F-04549911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67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w-num-3-468">
            <a:extLst xmlns:a="http://schemas.openxmlformats.org/drawingml/2006/main">
              <a:ext uri="{FF2B5EF4-FFF2-40B4-BE49-F238E27FC236}">
                <a16:creationId xmlns:a16="http://schemas.microsoft.com/office/drawing/2014/main" id="{BDB9FB0A-102C-4055-8CC4-7761209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5" name="row-title-3-468">
            <a:extLst xmlns:a="http://schemas.openxmlformats.org/drawingml/2006/main">
              <a:ext uri="{FF2B5EF4-FFF2-40B4-BE49-F238E27FC236}">
                <a16:creationId xmlns:a16="http://schemas.microsoft.com/office/drawing/2014/main" id="{0188B4A7-D62F-4285-92C9-A50449A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Pencarian &amp; Filter Terarah</a:t>
            </a:r>
          </a:p>
        </p:txBody>
      </p:sp>
      <p:sp>
        <p:nvSpPr>
          <p:cNvPr id="16" name="row-body-3-468">
            <a:extLst xmlns:a="http://schemas.openxmlformats.org/drawingml/2006/main">
              <a:ext uri="{FF2B5EF4-FFF2-40B4-BE49-F238E27FC236}">
                <a16:creationId xmlns:a16="http://schemas.microsoft.com/office/drawing/2014/main" id="{04C3912F-6A81-4667-8CAC-975BBB1F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Gunakan pencarian, filter, pagination, dan detail peserta.</a:t>
            </a:r>
          </a:p>
        </p:txBody>
      </p:sp>
      <p:sp>
        <p:nvSpPr>
          <p:cNvPr id="17" name="row-rule-3-468">
            <a:extLst xmlns:a="http://schemas.openxmlformats.org/drawingml/2006/main">
              <a:ext uri="{FF2B5EF4-FFF2-40B4-BE49-F238E27FC236}">
                <a16:creationId xmlns:a16="http://schemas.microsoft.com/office/drawing/2014/main" id="{9082BC95-74E9-4B35-8B32-2DAFB6A9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578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ticipant-shot-shadow">
            <a:extLst xmlns:a="http://schemas.openxmlformats.org/drawingml/2006/main">
              <a:ext uri="{FF2B5EF4-FFF2-40B4-BE49-F238E27FC236}">
                <a16:creationId xmlns:a16="http://schemas.microsoft.com/office/drawing/2014/main" id="{09EB6949-6394-4092-A6E7-69E1482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icipant-shot-frame">
            <a:extLst xmlns:a="http://schemas.openxmlformats.org/drawingml/2006/main">
              <a:ext uri="{FF2B5EF4-FFF2-40B4-BE49-F238E27FC236}">
                <a16:creationId xmlns:a16="http://schemas.microsoft.com/office/drawing/2014/main" id="{346B7AC3-2BED-43EC-87FE-0854E4B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0" name="participant-shot-toolbar">
            <a:extLst xmlns:a="http://schemas.openxmlformats.org/drawingml/2006/main">
              <a:ext uri="{FF2B5EF4-FFF2-40B4-BE49-F238E27FC236}">
                <a16:creationId xmlns:a16="http://schemas.microsoft.com/office/drawing/2014/main" id="{C2B9C48F-0E1C-498A-9E93-CEABE36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rticipant-shot-dot-0">
            <a:extLst xmlns:a="http://schemas.openxmlformats.org/drawingml/2006/main">
              <a:ext uri="{FF2B5EF4-FFF2-40B4-BE49-F238E27FC236}">
                <a16:creationId xmlns:a16="http://schemas.microsoft.com/office/drawing/2014/main" id="{F0B57BAD-82A9-494A-BE82-4904847C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rticipant-shot-dot-1">
            <a:extLst xmlns:a="http://schemas.openxmlformats.org/drawingml/2006/main">
              <a:ext uri="{FF2B5EF4-FFF2-40B4-BE49-F238E27FC236}">
                <a16:creationId xmlns:a16="http://schemas.microsoft.com/office/drawing/2014/main" id="{C0DAEF11-31B3-46BC-977C-B5E9422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ticipant-shot-dot-2">
            <a:extLst xmlns:a="http://schemas.openxmlformats.org/drawingml/2006/main">
              <a:ext uri="{FF2B5EF4-FFF2-40B4-BE49-F238E27FC236}">
                <a16:creationId xmlns:a16="http://schemas.microsoft.com/office/drawing/2014/main" id="{A3867535-C11F-4A6C-9A48-7CB99939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icipant-shot-drop-zone">
            <a:extLst xmlns:a="http://schemas.openxmlformats.org/drawingml/2006/main">
              <a:ext uri="{FF2B5EF4-FFF2-40B4-BE49-F238E27FC236}">
                <a16:creationId xmlns:a16="http://schemas.microsoft.com/office/drawing/2014/main" id="{638E59C9-6DE6-482A-BD0E-4E7255F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3815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5" name="participant-shot-label">
            <a:extLst xmlns:a="http://schemas.openxmlformats.org/drawingml/2006/main">
              <a:ext uri="{FF2B5EF4-FFF2-40B4-BE49-F238E27FC236}">
                <a16:creationId xmlns:a16="http://schemas.microsoft.com/office/drawing/2014/main" id="{752448D7-C9B6-459C-B872-60B274F5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80994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6" name="participant-shot-caption">
            <a:extLst xmlns:a="http://schemas.openxmlformats.org/drawingml/2006/main">
              <a:ext uri="{FF2B5EF4-FFF2-40B4-BE49-F238E27FC236}">
                <a16:creationId xmlns:a16="http://schemas.microsoft.com/office/drawing/2014/main" id="{05DAA7C8-8422-49BE-A5BB-F6E5F3A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Tabel Manajemen Peserta &amp; Filter Angkatan</a:t>
            </a:r>
          </a:p>
        </p:txBody>
      </p:sp>
      <p:sp>
        <p:nvSpPr>
          <p:cNvPr id="27" name="participant-shot-note">
            <a:extLst xmlns:a="http://schemas.openxmlformats.org/drawingml/2006/main">
              <a:ext uri="{FF2B5EF4-FFF2-40B4-BE49-F238E27FC236}">
                <a16:creationId xmlns:a16="http://schemas.microsoft.com/office/drawing/2014/main" id="{B62916A4-1AC2-4598-A1B0-C039EAD0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293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Gunakan contoh data yang sudah dianonimkan;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1891360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ule-5">
            <a:extLst xmlns:a="http://schemas.openxmlformats.org/drawingml/2006/main">
              <a:ext uri="{FF2B5EF4-FFF2-40B4-BE49-F238E27FC236}">
                <a16:creationId xmlns:a16="http://schemas.microsoft.com/office/drawing/2014/main" id="{C43FD2F6-8A60-40F5-80F1-F3CE594C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6547EA0A-47AC-41A4-8608-A343746F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EVALUASI KOMPETENSI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0DC4256C-1884-44A0-9D52-472B2DB7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BANK SOAL MEMBENTUK PAKET UJIAN SECARA FLEKSIBEL</a:t>
            </a:r>
          </a:p>
        </p:txBody>
      </p:sp>
      <p:sp>
        <p:nvSpPr>
          <p:cNvPr id="4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CA4C8371-B1EA-487E-85E2-63DF8694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46674899-74DD-483A-93CA-A567C408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05</a:t>
            </a:r>
          </a:p>
        </p:txBody>
      </p:sp>
      <p:sp>
        <p:nvSpPr>
          <p:cNvPr id="6" name="bank-num-0">
            <a:extLst xmlns:a="http://schemas.openxmlformats.org/drawingml/2006/main">
              <a:ext uri="{FF2B5EF4-FFF2-40B4-BE49-F238E27FC236}">
                <a16:creationId xmlns:a16="http://schemas.microsoft.com/office/drawing/2014/main" id="{BE998D9E-9B0A-4E99-AD49-399D766C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bank-title-0">
            <a:extLst xmlns:a="http://schemas.openxmlformats.org/drawingml/2006/main">
              <a:ext uri="{FF2B5EF4-FFF2-40B4-BE49-F238E27FC236}">
                <a16:creationId xmlns:a16="http://schemas.microsoft.com/office/drawing/2014/main" id="{09FD80C6-E90F-4B18-8539-7BF769D8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Struktur Berbasis Materi</a:t>
            </a:r>
          </a:p>
        </p:txBody>
      </p:sp>
      <p:sp>
        <p:nvSpPr>
          <p:cNvPr id="8" name="bank-copy-0">
            <a:extLst xmlns:a="http://schemas.openxmlformats.org/drawingml/2006/main">
              <a:ext uri="{FF2B5EF4-FFF2-40B4-BE49-F238E27FC236}">
                <a16:creationId xmlns:a16="http://schemas.microsoft.com/office/drawing/2014/main" id="{EEA9DEC0-5CEB-452A-9ED9-04372299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Penyimpanan butir soal dikelompokkan menurut unit kompetensi dan materi ajar spesifik.</a:t>
            </a:r>
          </a:p>
        </p:txBody>
      </p:sp>
      <p:sp>
        <p:nvSpPr>
          <p:cNvPr id="9" name="bank-rule-0">
            <a:extLst xmlns:a="http://schemas.openxmlformats.org/drawingml/2006/main">
              <a:ext uri="{FF2B5EF4-FFF2-40B4-BE49-F238E27FC236}">
                <a16:creationId xmlns:a16="http://schemas.microsoft.com/office/drawing/2014/main" id="{45CE3C19-A7E9-4956-9C60-6D67764F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nk-num-1">
            <a:extLst xmlns:a="http://schemas.openxmlformats.org/drawingml/2006/main">
              <a:ext uri="{FF2B5EF4-FFF2-40B4-BE49-F238E27FC236}">
                <a16:creationId xmlns:a16="http://schemas.microsoft.com/office/drawing/2014/main" id="{7592FDA5-AE91-4C50-BAF9-1F1BB5CB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bank-title-1">
            <a:extLst xmlns:a="http://schemas.openxmlformats.org/drawingml/2006/main">
              <a:ext uri="{FF2B5EF4-FFF2-40B4-BE49-F238E27FC236}">
                <a16:creationId xmlns:a16="http://schemas.microsoft.com/office/drawing/2014/main" id="{A32152A7-6828-4890-9E98-3C7CAE8C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Editor Lengkap &amp; Gambar</a:t>
            </a:r>
          </a:p>
        </p:txBody>
      </p:sp>
      <p:sp>
        <p:nvSpPr>
          <p:cNvPr id="12" name="bank-copy-1">
            <a:extLst xmlns:a="http://schemas.openxmlformats.org/drawingml/2006/main">
              <a:ext uri="{FF2B5EF4-FFF2-40B4-BE49-F238E27FC236}">
                <a16:creationId xmlns:a16="http://schemas.microsoft.com/office/drawing/2014/main" id="{D39F6A34-ABF1-4B6C-B9A9-F17A950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337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Kemudahan tambah, edit, hapus, import massal, serta dukungan penyisipan gambar teknis pada butir soal.</a:t>
            </a:r>
          </a:p>
        </p:txBody>
      </p:sp>
      <p:sp>
        <p:nvSpPr>
          <p:cNvPr id="13" name="bank-rule-1">
            <a:extLst xmlns:a="http://schemas.openxmlformats.org/drawingml/2006/main">
              <a:ext uri="{FF2B5EF4-FFF2-40B4-BE49-F238E27FC236}">
                <a16:creationId xmlns:a16="http://schemas.microsoft.com/office/drawing/2014/main" id="{D123ED1F-5F38-4639-9DEA-08252155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957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nk-num-2">
            <a:extLst xmlns:a="http://schemas.openxmlformats.org/drawingml/2006/main">
              <a:ext uri="{FF2B5EF4-FFF2-40B4-BE49-F238E27FC236}">
                <a16:creationId xmlns:a16="http://schemas.microsoft.com/office/drawing/2014/main" id="{190F886C-2990-4167-991D-7F811DD5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5" name="bank-title-2">
            <a:extLst xmlns:a="http://schemas.openxmlformats.org/drawingml/2006/main">
              <a:ext uri="{FF2B5EF4-FFF2-40B4-BE49-F238E27FC236}">
                <a16:creationId xmlns:a16="http://schemas.microsoft.com/office/drawing/2014/main" id="{522C8455-38DB-4493-8433-842A4B2C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Generate Paket Acak</a:t>
            </a:r>
          </a:p>
        </p:txBody>
      </p:sp>
      <p:sp>
        <p:nvSpPr>
          <p:cNvPr id="16" name="bank-copy-2">
            <a:extLst xmlns:a="http://schemas.openxmlformats.org/drawingml/2006/main">
              <a:ext uri="{FF2B5EF4-FFF2-40B4-BE49-F238E27FC236}">
                <a16:creationId xmlns:a16="http://schemas.microsoft.com/office/drawing/2014/main" id="{D2E50B14-D69B-4BBA-9521-C7FDC55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Sistem merakit paket ujian secara otomatis dan acak sesuai proporsi bobot materi yang ditentukan.</a:t>
            </a:r>
          </a:p>
        </p:txBody>
      </p:sp>
      <p:sp>
        <p:nvSpPr>
          <p:cNvPr id="17" name="bank-rule-2">
            <a:extLst xmlns:a="http://schemas.openxmlformats.org/drawingml/2006/main">
              <a:ext uri="{FF2B5EF4-FFF2-40B4-BE49-F238E27FC236}">
                <a16:creationId xmlns:a16="http://schemas.microsoft.com/office/drawing/2014/main" id="{E686E34A-C6B0-413D-9601-5430D2E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nk-num-3">
            <a:extLst xmlns:a="http://schemas.openxmlformats.org/drawingml/2006/main">
              <a:ext uri="{FF2B5EF4-FFF2-40B4-BE49-F238E27FC236}">
                <a16:creationId xmlns:a16="http://schemas.microsoft.com/office/drawing/2014/main" id="{B52548D7-C1A5-4EA1-B969-392155FD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57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19" name="bank-title-3">
            <a:extLst xmlns:a="http://schemas.openxmlformats.org/drawingml/2006/main">
              <a:ext uri="{FF2B5EF4-FFF2-40B4-BE49-F238E27FC236}">
                <a16:creationId xmlns:a16="http://schemas.microsoft.com/office/drawing/2014/main" id="{A97DB754-BF19-4EC7-A79E-47DCC315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19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Preview &amp; Unduh Dokumen</a:t>
            </a:r>
          </a:p>
        </p:txBody>
      </p:sp>
      <p:sp>
        <p:nvSpPr>
          <p:cNvPr id="20" name="bank-copy-3">
            <a:extLst xmlns:a="http://schemas.openxmlformats.org/drawingml/2006/main">
              <a:ext uri="{FF2B5EF4-FFF2-40B4-BE49-F238E27FC236}">
                <a16:creationId xmlns:a16="http://schemas.microsoft.com/office/drawing/2014/main" id="{B9CF51E5-1F69-4C5E-88F8-421645A4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911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Pratinjau naskah soal dan opsi cetak/unduh arsip paket tes untuk dokumentasi arsip BDI.</a:t>
            </a:r>
          </a:p>
        </p:txBody>
      </p:sp>
      <p:sp>
        <p:nvSpPr>
          <p:cNvPr id="21" name="bank-rule-3">
            <a:extLst xmlns:a="http://schemas.openxmlformats.org/drawingml/2006/main">
              <a:ext uri="{FF2B5EF4-FFF2-40B4-BE49-F238E27FC236}">
                <a16:creationId xmlns:a16="http://schemas.microsoft.com/office/drawing/2014/main" id="{ED8C898D-C2EC-4280-987C-115DF78E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53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nk-shot-shadow">
            <a:extLst xmlns:a="http://schemas.openxmlformats.org/drawingml/2006/main">
              <a:ext uri="{FF2B5EF4-FFF2-40B4-BE49-F238E27FC236}">
                <a16:creationId xmlns:a16="http://schemas.microsoft.com/office/drawing/2014/main" id="{67FBC01A-CA6A-4A54-B414-36EE69C2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72440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nk-shot-frame">
            <a:extLst xmlns:a="http://schemas.openxmlformats.org/drawingml/2006/main">
              <a:ext uri="{FF2B5EF4-FFF2-40B4-BE49-F238E27FC236}">
                <a16:creationId xmlns:a16="http://schemas.microsoft.com/office/drawing/2014/main" id="{A5B7E75A-BA50-41C2-BFE3-11180BC8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4" name="bank-shot-toolbar">
            <a:extLst xmlns:a="http://schemas.openxmlformats.org/drawingml/2006/main">
              <a:ext uri="{FF2B5EF4-FFF2-40B4-BE49-F238E27FC236}">
                <a16:creationId xmlns:a16="http://schemas.microsoft.com/office/drawing/2014/main" id="{02EBF360-3160-43E5-B45C-3B86CD7C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nk-shot-dot-0">
            <a:extLst xmlns:a="http://schemas.openxmlformats.org/drawingml/2006/main">
              <a:ext uri="{FF2B5EF4-FFF2-40B4-BE49-F238E27FC236}">
                <a16:creationId xmlns:a16="http://schemas.microsoft.com/office/drawing/2014/main" id="{ADF139F7-88C1-4744-8305-7E01031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nk-shot-dot-1">
            <a:extLst xmlns:a="http://schemas.openxmlformats.org/drawingml/2006/main">
              <a:ext uri="{FF2B5EF4-FFF2-40B4-BE49-F238E27FC236}">
                <a16:creationId xmlns:a16="http://schemas.microsoft.com/office/drawing/2014/main" id="{E146B250-1671-4A05-AEFC-112E408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nk-shot-dot-2">
            <a:extLst xmlns:a="http://schemas.openxmlformats.org/drawingml/2006/main">
              <a:ext uri="{FF2B5EF4-FFF2-40B4-BE49-F238E27FC236}">
                <a16:creationId xmlns:a16="http://schemas.microsoft.com/office/drawing/2014/main" id="{6ED7315E-F09D-4501-8AEB-7FC43440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ank-shot-drop-zone">
            <a:extLst xmlns:a="http://schemas.openxmlformats.org/drawingml/2006/main">
              <a:ext uri="{FF2B5EF4-FFF2-40B4-BE49-F238E27FC236}">
                <a16:creationId xmlns:a16="http://schemas.microsoft.com/office/drawing/2014/main" id="{A14C3C4D-3CB8-4493-8ED0-F2CE515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381500" cy="278130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9" name="bank-shot-label">
            <a:extLst xmlns:a="http://schemas.openxmlformats.org/drawingml/2006/main">
              <a:ext uri="{FF2B5EF4-FFF2-40B4-BE49-F238E27FC236}">
                <a16:creationId xmlns:a16="http://schemas.microsoft.com/office/drawing/2014/main" id="{9FC94617-CF74-42E3-98CE-304FC7E2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96818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30" name="bank-shot-caption">
            <a:extLst xmlns:a="http://schemas.openxmlformats.org/drawingml/2006/main">
              <a:ext uri="{FF2B5EF4-FFF2-40B4-BE49-F238E27FC236}">
                <a16:creationId xmlns:a16="http://schemas.microsoft.com/office/drawing/2014/main" id="{A5B729DE-F0D1-49D1-ADBF-A9CCC6DF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10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Halaman Bank Soal &amp; Konfigurasi Paket Ujian</a:t>
            </a:r>
          </a:p>
        </p:txBody>
      </p:sp>
    </p:spTree>
    <p:extLst>
      <p:ext uri="{BB962C8B-B14F-4D97-AF65-F5344CB8AC3E}">
        <p14:creationId xmlns:p14="http://schemas.microsoft.com/office/powerpoint/2010/main" val="323264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ule-6">
            <a:extLst xmlns:a="http://schemas.openxmlformats.org/drawingml/2006/main">
              <a:ext uri="{FF2B5EF4-FFF2-40B4-BE49-F238E27FC236}">
                <a16:creationId xmlns:a16="http://schemas.microsoft.com/office/drawing/2014/main" id="{4E6293CF-713B-4BEE-AD92-D4E825DF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DCD3BA81-8D86-41DD-8430-F2C4C2E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PENGALAMAN PESERTA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0161C8BD-1DAC-429B-BA40-55CD98BC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37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37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PESERTA MENGIKUTI ALUR TES YANG SEDERHANA</a:t>
            </a:r>
          </a:p>
        </p:txBody>
      </p:sp>
      <p:sp>
        <p:nvSpPr>
          <p:cNvPr id="4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ACA1FEB2-85C6-49B4-A406-2B03A723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CE11ABE8-5AF7-4C49-8394-DEB69617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06</a:t>
            </a:r>
          </a:p>
        </p:txBody>
      </p:sp>
      <p:sp>
        <p:nvSpPr>
          <p:cNvPr id="6" name="journey-intro">
            <a:extLst xmlns:a="http://schemas.openxmlformats.org/drawingml/2006/main">
              <a:ext uri="{FF2B5EF4-FFF2-40B4-BE49-F238E27FC236}">
                <a16:creationId xmlns:a16="http://schemas.microsoft.com/office/drawing/2014/main" id="{DD121E99-6D7D-419C-BC53-8441400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5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Peserta mengerjakan tes melalui tautan pelatihan secara mandiri.</a:t>
            </a:r>
          </a:p>
        </p:txBody>
      </p:sp>
      <p:sp>
        <p:nvSpPr>
          <p:cNvPr id="7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14C1F5A9-AD47-441A-B9AA-0853DC2C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8" name="journey-rule-0">
            <a:extLst xmlns:a="http://schemas.openxmlformats.org/drawingml/2006/main">
              <a:ext uri="{FF2B5EF4-FFF2-40B4-BE49-F238E27FC236}">
                <a16:creationId xmlns:a16="http://schemas.microsoft.com/office/drawing/2014/main" id="{B6AC138E-E5D0-415B-B3BB-3445C024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step-0">
            <a:extLst xmlns:a="http://schemas.openxmlformats.org/drawingml/2006/main">
              <a:ext uri="{FF2B5EF4-FFF2-40B4-BE49-F238E27FC236}">
                <a16:creationId xmlns:a16="http://schemas.microsoft.com/office/drawing/2014/main" id="{323E3E46-6A7E-48D0-876F-741F8E4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Isi Nama dan NIK</a:t>
            </a:r>
          </a:p>
        </p:txBody>
      </p:sp>
      <p:sp>
        <p:nvSpPr>
          <p:cNvPr id="10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CB7670F6-86A3-4B15-A731-677F79E6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journey-rule-1">
            <a:extLst xmlns:a="http://schemas.openxmlformats.org/drawingml/2006/main">
              <a:ext uri="{FF2B5EF4-FFF2-40B4-BE49-F238E27FC236}">
                <a16:creationId xmlns:a16="http://schemas.microsoft.com/office/drawing/2014/main" id="{06C31419-3664-4C81-8641-2017458F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step-1">
            <a:extLst xmlns:a="http://schemas.openxmlformats.org/drawingml/2006/main">
              <a:ext uri="{FF2B5EF4-FFF2-40B4-BE49-F238E27FC236}">
                <a16:creationId xmlns:a16="http://schemas.microsoft.com/office/drawing/2014/main" id="{D7CDC24E-494E-477E-8DFB-1B71BBCC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Pre-Test</a:t>
            </a:r>
          </a:p>
        </p:txBody>
      </p:sp>
      <p:sp>
        <p:nvSpPr>
          <p:cNvPr id="13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62BC9FD8-874E-4CD0-8514-3DD7020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4" name="journey-rule-2">
            <a:extLst xmlns:a="http://schemas.openxmlformats.org/drawingml/2006/main">
              <a:ext uri="{FF2B5EF4-FFF2-40B4-BE49-F238E27FC236}">
                <a16:creationId xmlns:a16="http://schemas.microsoft.com/office/drawing/2014/main" id="{56A2F1E7-2090-45A0-9C0B-1AF3E53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journey-step-2">
            <a:extLst xmlns:a="http://schemas.openxmlformats.org/drawingml/2006/main">
              <a:ext uri="{FF2B5EF4-FFF2-40B4-BE49-F238E27FC236}">
                <a16:creationId xmlns:a16="http://schemas.microsoft.com/office/drawing/2014/main" id="{B09191ED-8901-4A20-ABAE-A8A48072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Materi Pelatihan</a:t>
            </a:r>
          </a:p>
        </p:txBody>
      </p:sp>
      <p:sp>
        <p:nvSpPr>
          <p:cNvPr id="16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3F539174-93A9-47E2-9B3A-2860B4A8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17" name="journey-rule-3">
            <a:extLst xmlns:a="http://schemas.openxmlformats.org/drawingml/2006/main">
              <a:ext uri="{FF2B5EF4-FFF2-40B4-BE49-F238E27FC236}">
                <a16:creationId xmlns:a16="http://schemas.microsoft.com/office/drawing/2014/main" id="{E53B7C43-782C-413F-B9A1-98280D6B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journey-step-3">
            <a:extLst xmlns:a="http://schemas.openxmlformats.org/drawingml/2006/main">
              <a:ext uri="{FF2B5EF4-FFF2-40B4-BE49-F238E27FC236}">
                <a16:creationId xmlns:a16="http://schemas.microsoft.com/office/drawing/2014/main" id="{BB6801BD-B63B-46E3-B647-AA198165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Post-Test</a:t>
            </a:r>
          </a:p>
        </p:txBody>
      </p:sp>
      <p:sp>
        <p:nvSpPr>
          <p:cNvPr id="19" name="journey-num-4">
            <a:extLst xmlns:a="http://schemas.openxmlformats.org/drawingml/2006/main">
              <a:ext uri="{FF2B5EF4-FFF2-40B4-BE49-F238E27FC236}">
                <a16:creationId xmlns:a16="http://schemas.microsoft.com/office/drawing/2014/main" id="{F5ABB786-E052-47DE-9123-18C05BE9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05</a:t>
            </a:r>
          </a:p>
        </p:txBody>
      </p:sp>
      <p:sp>
        <p:nvSpPr>
          <p:cNvPr id="20" name="journey-rule-4">
            <a:extLst xmlns:a="http://schemas.openxmlformats.org/drawingml/2006/main">
              <a:ext uri="{FF2B5EF4-FFF2-40B4-BE49-F238E27FC236}">
                <a16:creationId xmlns:a16="http://schemas.microsoft.com/office/drawing/2014/main" id="{6EDC1481-8C53-47E2-92F4-F5760C9D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journey-step-4">
            <a:extLst xmlns:a="http://schemas.openxmlformats.org/drawingml/2006/main">
              <a:ext uri="{FF2B5EF4-FFF2-40B4-BE49-F238E27FC236}">
                <a16:creationId xmlns:a16="http://schemas.microsoft.com/office/drawing/2014/main" id="{54EB62B0-6B8E-4DA3-AD97-B2CEC624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Hasil</a:t>
            </a:r>
          </a:p>
        </p:txBody>
      </p:sp>
      <p:sp>
        <p:nvSpPr>
          <p:cNvPr id="22" name="journey-shot-shadow">
            <a:extLst xmlns:a="http://schemas.openxmlformats.org/drawingml/2006/main">
              <a:ext uri="{FF2B5EF4-FFF2-40B4-BE49-F238E27FC236}">
                <a16:creationId xmlns:a16="http://schemas.microsoft.com/office/drawing/2014/main" id="{E6AD50F4-5FB4-45C3-9DA0-A1233635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972800" cy="2076450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journey-shot-frame">
            <a:extLst xmlns:a="http://schemas.openxmlformats.org/drawingml/2006/main">
              <a:ext uri="{FF2B5EF4-FFF2-40B4-BE49-F238E27FC236}">
                <a16:creationId xmlns:a16="http://schemas.microsoft.com/office/drawing/2014/main" id="{DC77FDAC-6927-4425-AC7E-C14C8491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2076450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4" name="journey-shot-toolbar">
            <a:extLst xmlns:a="http://schemas.openxmlformats.org/drawingml/2006/main">
              <a:ext uri="{FF2B5EF4-FFF2-40B4-BE49-F238E27FC236}">
                <a16:creationId xmlns:a16="http://schemas.microsoft.com/office/drawing/2014/main" id="{08ADF94D-3598-4C97-8E1F-6966049D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journey-shot-dot-0">
            <a:extLst xmlns:a="http://schemas.openxmlformats.org/drawingml/2006/main">
              <a:ext uri="{FF2B5EF4-FFF2-40B4-BE49-F238E27FC236}">
                <a16:creationId xmlns:a16="http://schemas.microsoft.com/office/drawing/2014/main" id="{B340D518-5326-4A16-8EA1-87A093D4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journey-shot-dot-1">
            <a:extLst xmlns:a="http://schemas.openxmlformats.org/drawingml/2006/main">
              <a:ext uri="{FF2B5EF4-FFF2-40B4-BE49-F238E27FC236}">
                <a16:creationId xmlns:a16="http://schemas.microsoft.com/office/drawing/2014/main" id="{8ACC003F-5D31-44B3-8994-5F5A78E6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journey-shot-dot-2">
            <a:extLst xmlns:a="http://schemas.openxmlformats.org/drawingml/2006/main">
              <a:ext uri="{FF2B5EF4-FFF2-40B4-BE49-F238E27FC236}">
                <a16:creationId xmlns:a16="http://schemas.microsoft.com/office/drawing/2014/main" id="{C732DAD4-7EFA-42C9-A12E-420CA71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journey-shot-drop-zone">
            <a:extLst xmlns:a="http://schemas.openxmlformats.org/drawingml/2006/main">
              <a:ext uri="{FF2B5EF4-FFF2-40B4-BE49-F238E27FC236}">
                <a16:creationId xmlns:a16="http://schemas.microsoft.com/office/drawing/2014/main" id="{C87BE9DF-9F60-4B65-802A-6FA767A2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06299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9" name="journey-shot-label">
            <a:extLst xmlns:a="http://schemas.openxmlformats.org/drawingml/2006/main">
              <a:ext uri="{FF2B5EF4-FFF2-40B4-BE49-F238E27FC236}">
                <a16:creationId xmlns:a16="http://schemas.microsoft.com/office/drawing/2014/main" id="{E7C703AE-524B-4613-97D7-CFD6E6E3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0001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30" name="journey-shot-caption">
            <a:extLst xmlns:a="http://schemas.openxmlformats.org/drawingml/2006/main">
              <a:ext uri="{FF2B5EF4-FFF2-40B4-BE49-F238E27FC236}">
                <a16:creationId xmlns:a16="http://schemas.microsoft.com/office/drawing/2014/main" id="{A7D7BE50-AD9C-4820-A964-59746F5E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Halaman Ujian Peserta</a:t>
            </a:r>
          </a:p>
        </p:txBody>
      </p:sp>
      <p:sp>
        <p:nvSpPr>
          <p:cNvPr id="31" name="journey-shot-note">
            <a:extLst xmlns:a="http://schemas.openxmlformats.org/drawingml/2006/main">
              <a:ext uri="{FF2B5EF4-FFF2-40B4-BE49-F238E27FC236}">
                <a16:creationId xmlns:a16="http://schemas.microsoft.com/office/drawing/2014/main" id="{4B66F5E3-9F2A-48F2-AA72-99F0570F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Tambahkan screenshot halaman peserta atau halaman soal;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1321302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ule-7">
            <a:extLst xmlns:a="http://schemas.openxmlformats.org/drawingml/2006/main">
              <a:ext uri="{FF2B5EF4-FFF2-40B4-BE49-F238E27FC236}">
                <a16:creationId xmlns:a16="http://schemas.microsoft.com/office/drawing/2014/main" id="{DB81FBFE-7462-4FBE-902E-30173D8F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CF8C76E5-F737-4EB6-A5BE-77F3C5E9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STANDAR KELULUSAN &amp; REMEDIAL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47C84C0-574D-4AC5-824B-55E2D62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25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NILAI, REMEDIAL, DAN MONITORING HASIL BERJALAN DALAM SATU ALUR</a:t>
            </a:r>
          </a:p>
        </p:txBody>
      </p:sp>
      <p:sp>
        <p:nvSpPr>
          <p:cNvPr id="4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B9A3EE0F-AE81-46A7-AB8C-D994C7C8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3517AAB9-36C3-4C09-9497-C3D913D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07</a:t>
            </a:r>
          </a:p>
        </p:txBody>
      </p:sp>
      <p:sp>
        <p:nvSpPr>
          <p:cNvPr id="6" name="logic-label">
            <a:extLst xmlns:a="http://schemas.openxmlformats.org/drawingml/2006/main">
              <a:ext uri="{FF2B5EF4-FFF2-40B4-BE49-F238E27FC236}">
                <a16:creationId xmlns:a16="http://schemas.microsoft.com/office/drawing/2014/main" id="{9A717834-059E-45A0-A880-32ACE964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LOGIKA KELULUSAN &amp; REMEDIAL</a:t>
            </a:r>
          </a:p>
        </p:txBody>
      </p:sp>
      <p:sp>
        <p:nvSpPr>
          <p:cNvPr id="7" name="pass-block">
            <a:extLst xmlns:a="http://schemas.openxmlformats.org/drawingml/2006/main">
              <a:ext uri="{FF2B5EF4-FFF2-40B4-BE49-F238E27FC236}">
                <a16:creationId xmlns:a16="http://schemas.microsoft.com/office/drawing/2014/main" id="{8D4F9770-3BB0-47F8-98F3-ABB0AAA1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695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5F6F1"/>
          </a:solidFill>
          <a:ln xmlns:a="http://schemas.openxmlformats.org/drawingml/2006/main" w="9525">
            <a:solidFill>
              <a:srgbClr val="A2DCCA"/>
            </a:solidFill>
            <a:prstDash val="solid"/>
          </a:ln>
        </p:spPr>
      </p:sp>
      <p:sp>
        <p:nvSpPr>
          <p:cNvPr id="8" name="pass-copy">
            <a:extLst xmlns:a="http://schemas.openxmlformats.org/drawingml/2006/main">
              <a:ext uri="{FF2B5EF4-FFF2-40B4-BE49-F238E27FC236}">
                <a16:creationId xmlns:a16="http://schemas.microsoft.com/office/drawing/2014/main" id="{14D1416D-4ED5-4D13-8C48-C1873011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8B6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 b="0">
                <a:solidFill>
                  <a:srgbClr val="0B8B6D"/>
                </a:solidFill>
                <a:latin typeface="Host Grotesk Bold"/>
                <a:ea typeface="Host Grotesk Bold"/>
                <a:cs typeface="Host Grotesk Bold"/>
              </a:rPr>
              <a:t>Jalur Kelulusan Langsung: Post-Test → Skor ≥ Passing Grade → Lulus (Selesai)</a:t>
            </a:r>
          </a:p>
        </p:txBody>
      </p:sp>
      <p:sp>
        <p:nvSpPr>
          <p:cNvPr id="9" name="remedial-block">
            <a:extLst xmlns:a="http://schemas.openxmlformats.org/drawingml/2006/main">
              <a:ext uri="{FF2B5EF4-FFF2-40B4-BE49-F238E27FC236}">
                <a16:creationId xmlns:a16="http://schemas.microsoft.com/office/drawing/2014/main" id="{7ABC10EC-AB88-4063-8512-C47DB90B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6959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3B49A"/>
            </a:solidFill>
            <a:prstDash val="solid"/>
          </a:ln>
        </p:spPr>
      </p:sp>
      <p:sp>
        <p:nvSpPr>
          <p:cNvPr id="10" name="remedial-copy">
            <a:extLst xmlns:a="http://schemas.openxmlformats.org/drawingml/2006/main">
              <a:ext uri="{FF2B5EF4-FFF2-40B4-BE49-F238E27FC236}">
                <a16:creationId xmlns:a16="http://schemas.microsoft.com/office/drawing/2014/main" id="{4990FD87-5469-4893-A4D3-2FF7C19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9471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 b="0">
                <a:solidFill>
                  <a:srgbClr val="C94713"/>
                </a:solidFill>
                <a:latin typeface="Host Grotesk Bold"/>
                <a:ea typeface="Host Grotesk Bold"/>
                <a:cs typeface="Host Grotesk Bold"/>
              </a:rPr>
              <a:t>Jalur Remedial Bertahap: Post-Test (&lt; Passing Grade) → Remedial 1 → Remedial 2 → Tes Diakhiri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09600" y="4457700"/>
          <a:ext xmlns:a="http://schemas.openxmlformats.org/drawingml/2006/main" cx="56959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3562350"/>
              </a:tblGrid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Aturan Waktu</a:t>
                      </a:r>
                    </a:p>
                  </a:txBody>
                  <a:tcPr marL="91440" marR="91440" marT="45720" marB="45720">
                    <a:solidFill>
                      <a:srgbClr val="071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B4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Awal 7 menit; tiap remedial menambah 7 menit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Batas Remedial</a:t>
                      </a:r>
                    </a:p>
                  </a:txBody>
                  <a:tcPr marL="91440" marR="91440" marT="45720" marB="45720">
                    <a:solidFill>
                      <a:srgbClr val="071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B4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Maksimal 2 kali pengulangan 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Passing Grade</a:t>
                      </a:r>
                    </a:p>
                  </a:txBody>
                  <a:tcPr marL="91440" marR="91440" marT="45720" marB="45720">
                    <a:solidFill>
                      <a:srgbClr val="071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B4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Dapat dikonfigurasi per jenis pelatihan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core-shot-shadow">
            <a:extLst xmlns:a="http://schemas.openxmlformats.org/drawingml/2006/main">
              <a:ext uri="{FF2B5EF4-FFF2-40B4-BE49-F238E27FC236}">
                <a16:creationId xmlns:a16="http://schemas.microsoft.com/office/drawing/2014/main" id="{8E789528-43E7-4B0E-8930-5D5B31AB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481965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ore-shot-frame">
            <a:extLst xmlns:a="http://schemas.openxmlformats.org/drawingml/2006/main">
              <a:ext uri="{FF2B5EF4-FFF2-40B4-BE49-F238E27FC236}">
                <a16:creationId xmlns:a16="http://schemas.microsoft.com/office/drawing/2014/main" id="{EFE3FF46-28C2-42DF-8E91-5DA3E200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4" name="score-shot-toolbar">
            <a:extLst xmlns:a="http://schemas.openxmlformats.org/drawingml/2006/main">
              <a:ext uri="{FF2B5EF4-FFF2-40B4-BE49-F238E27FC236}">
                <a16:creationId xmlns:a16="http://schemas.microsoft.com/office/drawing/2014/main" id="{BFA93BE3-ADB5-4786-B273-BECF1BF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ore-shot-dot-0">
            <a:extLst xmlns:a="http://schemas.openxmlformats.org/drawingml/2006/main">
              <a:ext uri="{FF2B5EF4-FFF2-40B4-BE49-F238E27FC236}">
                <a16:creationId xmlns:a16="http://schemas.microsoft.com/office/drawing/2014/main" id="{A601AE58-9427-4B2F-AFB9-6CC72A31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ore-shot-dot-1">
            <a:extLst xmlns:a="http://schemas.openxmlformats.org/drawingml/2006/main">
              <a:ext uri="{FF2B5EF4-FFF2-40B4-BE49-F238E27FC236}">
                <a16:creationId xmlns:a16="http://schemas.microsoft.com/office/drawing/2014/main" id="{B10DF29D-C8D0-49AD-842B-8E428248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ore-shot-dot-2">
            <a:extLst xmlns:a="http://schemas.openxmlformats.org/drawingml/2006/main">
              <a:ext uri="{FF2B5EF4-FFF2-40B4-BE49-F238E27FC236}">
                <a16:creationId xmlns:a16="http://schemas.microsoft.com/office/drawing/2014/main" id="{9A8946E7-C2D0-4062-855E-D73CC620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ore-shot-drop-zone">
            <a:extLst xmlns:a="http://schemas.openxmlformats.org/drawingml/2006/main">
              <a:ext uri="{FF2B5EF4-FFF2-40B4-BE49-F238E27FC236}">
                <a16:creationId xmlns:a16="http://schemas.microsoft.com/office/drawing/2014/main" id="{2704B583-FC26-43B8-B3D4-6044631A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4476750" cy="268605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9" name="score-shot-label">
            <a:extLst xmlns:a="http://schemas.openxmlformats.org/drawingml/2006/main">
              <a:ext uri="{FF2B5EF4-FFF2-40B4-BE49-F238E27FC236}">
                <a16:creationId xmlns:a16="http://schemas.microsoft.com/office/drawing/2014/main" id="{8E53A29E-AA02-4CFC-BDF6-6A17DCCF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60623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0" name="score-shot-caption">
            <a:extLst xmlns:a="http://schemas.openxmlformats.org/drawingml/2006/main">
              <a:ext uri="{FF2B5EF4-FFF2-40B4-BE49-F238E27FC236}">
                <a16:creationId xmlns:a16="http://schemas.microsoft.com/office/drawing/2014/main" id="{45A880FC-B777-4EE5-9211-1EAE380E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Monitoring Nilai: Pre, Post, Remedial 1, Remedial 2, dan Nilai Akhir</a:t>
            </a:r>
          </a:p>
        </p:txBody>
      </p:sp>
    </p:spTree>
    <p:extLst>
      <p:ext uri="{BB962C8B-B14F-4D97-AF65-F5344CB8AC3E}">
        <p14:creationId xmlns:p14="http://schemas.microsoft.com/office/powerpoint/2010/main" val="1901205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74BFF19F-B1BC-42C7-A62E-26B124DC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312095C9-575A-49D8-A657-BD3F0083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AKUNTABILITAS &amp; PENJAMINAN MUTU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6C280B7E-C080-4495-AD9D-F4B225F2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EVALUASI DAN KOREKSI NILAI TETAP TERDOKUMENTASI</a:t>
            </a:r>
          </a:p>
        </p:txBody>
      </p:sp>
      <p:sp>
        <p:nvSpPr>
          <p:cNvPr id="4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DADB9EB9-ED53-463A-9816-0D9F1A81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EFAEA856-B41A-4A37-8DF6-C98CC92C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08</a:t>
            </a:r>
          </a:p>
        </p:txBody>
      </p:sp>
      <p:sp>
        <p:nvSpPr>
          <p:cNvPr id="6" name="quality-num">
            <a:extLst xmlns:a="http://schemas.openxmlformats.org/drawingml/2006/main">
              <a:ext uri="{FF2B5EF4-FFF2-40B4-BE49-F238E27FC236}">
                <a16:creationId xmlns:a16="http://schemas.microsoft.com/office/drawing/2014/main" id="{5804BBAA-7F89-4B64-88B3-A57DA236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9843A990-A2E5-4174-9AFC-336FEFE6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Evaluasi &amp; Monitoring Respons</a:t>
            </a:r>
          </a:p>
        </p:txBody>
      </p:sp>
      <p:sp>
        <p:nvSpPr>
          <p:cNvPr id="8" name="quality-copy">
            <a:extLst xmlns:a="http://schemas.openxmlformats.org/drawingml/2006/main">
              <a:ext uri="{FF2B5EF4-FFF2-40B4-BE49-F238E27FC236}">
                <a16:creationId xmlns:a16="http://schemas.microsoft.com/office/drawing/2014/main" id="{5AD79350-623D-4163-A6BB-E008389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781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Buat template dan jadwal evaluasi instruktur, kurikulum, serta fasilitas. Pantau respons peserta secara transparan sebelum sertifikat diterbitkan.</a:t>
            </a:r>
          </a:p>
        </p:txBody>
      </p:sp>
      <p:sp>
        <p:nvSpPr>
          <p:cNvPr id="9" name="quality-divider">
            <a:extLst xmlns:a="http://schemas.openxmlformats.org/drawingml/2006/main">
              <a:ext uri="{FF2B5EF4-FFF2-40B4-BE49-F238E27FC236}">
                <a16:creationId xmlns:a16="http://schemas.microsoft.com/office/drawing/2014/main" id="{5A6513CA-E156-440B-A92D-D460CE2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9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udit-num">
            <a:extLst xmlns:a="http://schemas.openxmlformats.org/drawingml/2006/main">
              <a:ext uri="{FF2B5EF4-FFF2-40B4-BE49-F238E27FC236}">
                <a16:creationId xmlns:a16="http://schemas.microsoft.com/office/drawing/2014/main" id="{A82CE248-1ED0-4454-9E03-587CC1D4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audit-title">
            <a:extLst xmlns:a="http://schemas.openxmlformats.org/drawingml/2006/main">
              <a:ext uri="{FF2B5EF4-FFF2-40B4-BE49-F238E27FC236}">
                <a16:creationId xmlns:a16="http://schemas.microsoft.com/office/drawing/2014/main" id="{4FE40CEB-4974-4332-AC00-F258D5B0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Koreksi Nilai &amp; Audit Log</a:t>
            </a:r>
          </a:p>
        </p:txBody>
      </p:sp>
      <p:sp>
        <p:nvSpPr>
          <p:cNvPr id="12" name="audit-copy">
            <a:extLst xmlns:a="http://schemas.openxmlformats.org/drawingml/2006/main">
              <a:ext uri="{FF2B5EF4-FFF2-40B4-BE49-F238E27FC236}">
                <a16:creationId xmlns:a16="http://schemas.microsoft.com/office/drawing/2014/main" id="{7B35537B-3D58-4956-9AAB-4D4BC0D4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Koreksi skor untuk force majeure atau ujian susulan dengan persetujuan pimpinan. Log tidak terhapus; tiap perubahan mencatat identitas editor, waktu, dan alasan.</a:t>
            </a:r>
          </a:p>
        </p:txBody>
      </p:sp>
      <p:sp>
        <p:nvSpPr>
          <p:cNvPr id="13" name="audit-shot-shadow">
            <a:extLst xmlns:a="http://schemas.openxmlformats.org/drawingml/2006/main">
              <a:ext uri="{FF2B5EF4-FFF2-40B4-BE49-F238E27FC236}">
                <a16:creationId xmlns:a16="http://schemas.microsoft.com/office/drawing/2014/main" id="{E2B65CCE-8473-4A0C-9262-30C18245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451485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udit-shot-frame">
            <a:extLst xmlns:a="http://schemas.openxmlformats.org/drawingml/2006/main">
              <a:ext uri="{FF2B5EF4-FFF2-40B4-BE49-F238E27FC236}">
                <a16:creationId xmlns:a16="http://schemas.microsoft.com/office/drawing/2014/main" id="{BBAF85DB-85B9-4EC5-853B-85533514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451485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5" name="audit-shot-toolbar">
            <a:extLst xmlns:a="http://schemas.openxmlformats.org/drawingml/2006/main">
              <a:ext uri="{FF2B5EF4-FFF2-40B4-BE49-F238E27FC236}">
                <a16:creationId xmlns:a16="http://schemas.microsoft.com/office/drawing/2014/main" id="{901D56C4-D435-43E2-A70E-2C4BF8F1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45148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udit-shot-dot-0">
            <a:extLst xmlns:a="http://schemas.openxmlformats.org/drawingml/2006/main">
              <a:ext uri="{FF2B5EF4-FFF2-40B4-BE49-F238E27FC236}">
                <a16:creationId xmlns:a16="http://schemas.microsoft.com/office/drawing/2014/main" id="{191F7144-4A11-468E-8298-CAF8341E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udit-shot-dot-1">
            <a:extLst xmlns:a="http://schemas.openxmlformats.org/drawingml/2006/main">
              <a:ext uri="{FF2B5EF4-FFF2-40B4-BE49-F238E27FC236}">
                <a16:creationId xmlns:a16="http://schemas.microsoft.com/office/drawing/2014/main" id="{118D0436-3CE5-4FB2-9378-BAEB62F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udit-shot-dot-2">
            <a:extLst xmlns:a="http://schemas.openxmlformats.org/drawingml/2006/main">
              <a:ext uri="{FF2B5EF4-FFF2-40B4-BE49-F238E27FC236}">
                <a16:creationId xmlns:a16="http://schemas.microsoft.com/office/drawing/2014/main" id="{F0A93570-6198-462F-AC25-229BFD15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udit-shot-drop-zone">
            <a:extLst xmlns:a="http://schemas.openxmlformats.org/drawingml/2006/main">
              <a:ext uri="{FF2B5EF4-FFF2-40B4-BE49-F238E27FC236}">
                <a16:creationId xmlns:a16="http://schemas.microsoft.com/office/drawing/2014/main" id="{F3CC1B1B-9DF9-4723-8533-ECFF6B74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41719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0" name="audit-shot-label">
            <a:extLst xmlns:a="http://schemas.openxmlformats.org/drawingml/2006/main">
              <a:ext uri="{FF2B5EF4-FFF2-40B4-BE49-F238E27FC236}">
                <a16:creationId xmlns:a16="http://schemas.microsoft.com/office/drawing/2014/main" id="{91F4E197-7910-4AA2-987B-21C7D17B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80994"/>
            <a:ext cx="3638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1" name="audit-shot-caption">
            <a:extLst xmlns:a="http://schemas.openxmlformats.org/drawingml/2006/main">
              <a:ext uri="{FF2B5EF4-FFF2-40B4-BE49-F238E27FC236}">
                <a16:creationId xmlns:a16="http://schemas.microsoft.com/office/drawing/2014/main" id="{454A023B-9AB9-4C0A-81C9-66F67C41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05400"/>
            <a:ext cx="398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Tampilan Kuesioner &amp; Modal Audit Log Koreksi Nilai</a:t>
            </a:r>
          </a:p>
        </p:txBody>
      </p:sp>
      <p:sp>
        <p:nvSpPr>
          <p:cNvPr id="22" name="audit-shot-note">
            <a:extLst xmlns:a="http://schemas.openxmlformats.org/drawingml/2006/main">
              <a:ext uri="{FF2B5EF4-FFF2-40B4-BE49-F238E27FC236}">
                <a16:creationId xmlns:a16="http://schemas.microsoft.com/office/drawing/2014/main" id="{E35DB5D9-CF79-4625-82B0-00746AFE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293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Tambahkan screenshot Evaluasi atau modal koreksi nilai;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1359802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ule-9">
            <a:extLst xmlns:a="http://schemas.openxmlformats.org/drawingml/2006/main">
              <a:ext uri="{FF2B5EF4-FFF2-40B4-BE49-F238E27FC236}">
                <a16:creationId xmlns:a16="http://schemas.microsoft.com/office/drawing/2014/main" id="{135964C9-E714-44F7-B620-91CF08C8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941773CB-CC67-4AFE-A0F4-21A498E1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OUTPUT DOKUMEN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C7A41A2-A705-411C-8961-50109B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1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SERTIFIKAT DAN SURAT KETERANGAN TERBIT LEBIH KONSISTEN</a:t>
            </a:r>
          </a:p>
        </p:txBody>
      </p:sp>
      <p:sp>
        <p:nvSpPr>
          <p:cNvPr id="4" name="title-accent-9">
            <a:extLst xmlns:a="http://schemas.openxmlformats.org/drawingml/2006/main">
              <a:ext uri="{FF2B5EF4-FFF2-40B4-BE49-F238E27FC236}">
                <a16:creationId xmlns:a16="http://schemas.microsoft.com/office/drawing/2014/main" id="{95928C88-6B6E-40D4-AA0F-74CF1660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5999ACFD-5336-4E5F-8714-18041CCC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09</a:t>
            </a:r>
          </a:p>
        </p:txBody>
      </p:sp>
      <p:sp>
        <p:nvSpPr>
          <p:cNvPr id="6" name="doc-marker-0">
            <a:extLst xmlns:a="http://schemas.openxmlformats.org/drawingml/2006/main">
              <a:ext uri="{FF2B5EF4-FFF2-40B4-BE49-F238E27FC236}">
                <a16:creationId xmlns:a16="http://schemas.microsoft.com/office/drawing/2014/main" id="{F3B37B95-FCEF-4C7B-B163-DBF999A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c-item-0">
            <a:extLst xmlns:a="http://schemas.openxmlformats.org/drawingml/2006/main">
              <a:ext uri="{FF2B5EF4-FFF2-40B4-BE49-F238E27FC236}">
                <a16:creationId xmlns:a16="http://schemas.microsoft.com/office/drawing/2014/main" id="{A3C1E6AC-C565-4D4D-9C01-87E79B09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Generate sertifikat dan surat keterangan.</a:t>
            </a:r>
          </a:p>
        </p:txBody>
      </p:sp>
      <p:sp>
        <p:nvSpPr>
          <p:cNvPr id="8" name="doc-marker-1">
            <a:extLst xmlns:a="http://schemas.openxmlformats.org/drawingml/2006/main">
              <a:ext uri="{FF2B5EF4-FFF2-40B4-BE49-F238E27FC236}">
                <a16:creationId xmlns:a16="http://schemas.microsoft.com/office/drawing/2014/main" id="{F9FD55C7-0D49-4F73-912C-F219CFC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c-item-1">
            <a:extLst xmlns:a="http://schemas.openxmlformats.org/drawingml/2006/main">
              <a:ext uri="{FF2B5EF4-FFF2-40B4-BE49-F238E27FC236}">
                <a16:creationId xmlns:a16="http://schemas.microsoft.com/office/drawing/2014/main" id="{A9993086-DD59-424D-873B-158FC885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Nama peserta ditulis dalam huruf kapital.</a:t>
            </a:r>
          </a:p>
        </p:txBody>
      </p:sp>
      <p:sp>
        <p:nvSpPr>
          <p:cNvPr id="10" name="doc-marker-2">
            <a:extLst xmlns:a="http://schemas.openxmlformats.org/drawingml/2006/main">
              <a:ext uri="{FF2B5EF4-FFF2-40B4-BE49-F238E27FC236}">
                <a16:creationId xmlns:a16="http://schemas.microsoft.com/office/drawing/2014/main" id="{6982AF20-26E2-4C05-B01B-7B9C3B0F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c-item-2">
            <a:extLst xmlns:a="http://schemas.openxmlformats.org/drawingml/2006/main">
              <a:ext uri="{FF2B5EF4-FFF2-40B4-BE49-F238E27FC236}">
                <a16:creationId xmlns:a16="http://schemas.microsoft.com/office/drawing/2014/main" id="{F1E35D92-08BE-432A-B92A-0D07441B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Tanggal penerbitan mengikuti tanggal terakhir pelatihan.</a:t>
            </a:r>
          </a:p>
        </p:txBody>
      </p:sp>
      <p:sp>
        <p:nvSpPr>
          <p:cNvPr id="12" name="doc-marker-3">
            <a:extLst xmlns:a="http://schemas.openxmlformats.org/drawingml/2006/main">
              <a:ext uri="{FF2B5EF4-FFF2-40B4-BE49-F238E27FC236}">
                <a16:creationId xmlns:a16="http://schemas.microsoft.com/office/drawing/2014/main" id="{0E678EF6-532D-4879-901C-188A029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c-item-3">
            <a:extLst xmlns:a="http://schemas.openxmlformats.org/drawingml/2006/main">
              <a:ext uri="{FF2B5EF4-FFF2-40B4-BE49-F238E27FC236}">
                <a16:creationId xmlns:a16="http://schemas.microsoft.com/office/drawing/2014/main" id="{9DB70210-F6FD-448E-A9D8-D9CB7EB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Tampilkan unit kompetensi dan kode unit kompetensi.</a:t>
            </a:r>
          </a:p>
        </p:txBody>
      </p:sp>
      <p:sp>
        <p:nvSpPr>
          <p:cNvPr id="14" name="doc-marker-4">
            <a:extLst xmlns:a="http://schemas.openxmlformats.org/drawingml/2006/main">
              <a:ext uri="{FF2B5EF4-FFF2-40B4-BE49-F238E27FC236}">
                <a16:creationId xmlns:a16="http://schemas.microsoft.com/office/drawing/2014/main" id="{1791B61C-5498-493A-BFFD-8E14574F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c-item-4">
            <a:extLst xmlns:a="http://schemas.openxmlformats.org/drawingml/2006/main">
              <a:ext uri="{FF2B5EF4-FFF2-40B4-BE49-F238E27FC236}">
                <a16:creationId xmlns:a16="http://schemas.microsoft.com/office/drawing/2014/main" id="{93389D9C-B764-48AC-8B25-D76E4B08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Nomor sertifikat dan surat diterapkan otomatis secara berurutan.</a:t>
            </a:r>
          </a:p>
        </p:txBody>
      </p:sp>
      <p:sp>
        <p:nvSpPr>
          <p:cNvPr id="16" name="doc-note">
            <a:extLst xmlns:a="http://schemas.openxmlformats.org/drawingml/2006/main">
              <a:ext uri="{FF2B5EF4-FFF2-40B4-BE49-F238E27FC236}">
                <a16:creationId xmlns:a16="http://schemas.microsoft.com/office/drawing/2014/main" id="{33D4DAB9-40FA-4ED3-8055-00DC0024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0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Tambahkan contoh desain sertifikat atau surat; hapus catatan setelah selesai.]</a:t>
            </a:r>
          </a:p>
        </p:txBody>
      </p:sp>
      <p:sp>
        <p:nvSpPr>
          <p:cNvPr id="17" name="document-shot-shadow">
            <a:extLst xmlns:a="http://schemas.openxmlformats.org/drawingml/2006/main">
              <a:ext uri="{FF2B5EF4-FFF2-40B4-BE49-F238E27FC236}">
                <a16:creationId xmlns:a16="http://schemas.microsoft.com/office/drawing/2014/main" id="{395C01AF-2A31-4197-980C-B06C4F96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481965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cument-shot-frame">
            <a:extLst xmlns:a="http://schemas.openxmlformats.org/drawingml/2006/main">
              <a:ext uri="{FF2B5EF4-FFF2-40B4-BE49-F238E27FC236}">
                <a16:creationId xmlns:a16="http://schemas.microsoft.com/office/drawing/2014/main" id="{FD386051-21C5-4138-B576-4E808A8D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9" name="document-shot-toolbar">
            <a:extLst xmlns:a="http://schemas.openxmlformats.org/drawingml/2006/main">
              <a:ext uri="{FF2B5EF4-FFF2-40B4-BE49-F238E27FC236}">
                <a16:creationId xmlns:a16="http://schemas.microsoft.com/office/drawing/2014/main" id="{41BE68BC-7D4F-442C-8691-75B7230E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cument-shot-dot-0">
            <a:extLst xmlns:a="http://schemas.openxmlformats.org/drawingml/2006/main">
              <a:ext uri="{FF2B5EF4-FFF2-40B4-BE49-F238E27FC236}">
                <a16:creationId xmlns:a16="http://schemas.microsoft.com/office/drawing/2014/main" id="{178B243C-7236-45C5-B92B-58930CE7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cument-shot-dot-1">
            <a:extLst xmlns:a="http://schemas.openxmlformats.org/drawingml/2006/main">
              <a:ext uri="{FF2B5EF4-FFF2-40B4-BE49-F238E27FC236}">
                <a16:creationId xmlns:a16="http://schemas.microsoft.com/office/drawing/2014/main" id="{887DD60F-F480-4BAF-94FB-7414F9B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cument-shot-dot-2">
            <a:extLst xmlns:a="http://schemas.openxmlformats.org/drawingml/2006/main">
              <a:ext uri="{FF2B5EF4-FFF2-40B4-BE49-F238E27FC236}">
                <a16:creationId xmlns:a16="http://schemas.microsoft.com/office/drawing/2014/main" id="{CAAD720F-EE78-444A-8C34-D56BEE0A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cument-shot-drop-zone">
            <a:extLst xmlns:a="http://schemas.openxmlformats.org/drawingml/2006/main">
              <a:ext uri="{FF2B5EF4-FFF2-40B4-BE49-F238E27FC236}">
                <a16:creationId xmlns:a16="http://schemas.microsoft.com/office/drawing/2014/main" id="{182CC878-BC30-44D0-BAD5-DC20E96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4476750" cy="278130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4" name="document-shot-label">
            <a:extLst xmlns:a="http://schemas.openxmlformats.org/drawingml/2006/main">
              <a:ext uri="{FF2B5EF4-FFF2-40B4-BE49-F238E27FC236}">
                <a16:creationId xmlns:a16="http://schemas.microsoft.com/office/drawing/2014/main" id="{C0FF8A91-1E7F-42C0-A936-6234FC9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6818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5" name="document-shot-caption">
            <a:extLst xmlns:a="http://schemas.openxmlformats.org/drawingml/2006/main">
              <a:ext uri="{FF2B5EF4-FFF2-40B4-BE49-F238E27FC236}">
                <a16:creationId xmlns:a16="http://schemas.microsoft.com/office/drawing/2014/main" id="{FA062E9E-70E1-4042-8CBC-92B9CD10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102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Preview Cetak Sertifikat &amp; Surat Keterangan Resmi</a:t>
            </a:r>
          </a:p>
        </p:txBody>
      </p:sp>
    </p:spTree>
    <p:extLst>
      <p:ext uri="{BB962C8B-B14F-4D97-AF65-F5344CB8AC3E}">
        <p14:creationId xmlns:p14="http://schemas.microsoft.com/office/powerpoint/2010/main" val="3435818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34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D96F6295-E809-4D22-8543-C90797FE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KESIMPULAN &amp; DAMPAK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EF50783-9E49-458F-9BD2-2D51F08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LEBIH EFISIEN, AKURAT, TRANSPARAN, DAN TERDOKUMENTASI</a:t>
            </a:r>
          </a:p>
        </p:txBody>
      </p:sp>
      <p:sp>
        <p:nvSpPr>
          <p:cNvPr id="3" name="title-accent-10">
            <a:extLst xmlns:a="http://schemas.openxmlformats.org/drawingml/2006/main">
              <a:ext uri="{FF2B5EF4-FFF2-40B4-BE49-F238E27FC236}">
                <a16:creationId xmlns:a16="http://schemas.microsoft.com/office/drawing/2014/main" id="{68D33B42-55B0-40E1-8FF0-EBFC7A06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8205040D-FE90-4F04-B9D7-85797B0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10</a:t>
            </a:r>
          </a:p>
        </p:txBody>
      </p:sp>
      <p:sp>
        <p:nvSpPr>
          <p:cNvPr id="5" name="impact-num-0">
            <a:extLst xmlns:a="http://schemas.openxmlformats.org/drawingml/2006/main">
              <a:ext uri="{FF2B5EF4-FFF2-40B4-BE49-F238E27FC236}">
                <a16:creationId xmlns:a16="http://schemas.microsoft.com/office/drawing/2014/main" id="{32D02BC9-9332-43E9-8E6C-2EA6862E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6" name="impact-title-0">
            <a:extLst xmlns:a="http://schemas.openxmlformats.org/drawingml/2006/main">
              <a:ext uri="{FF2B5EF4-FFF2-40B4-BE49-F238E27FC236}">
                <a16:creationId xmlns:a16="http://schemas.microsoft.com/office/drawing/2014/main" id="{DC630EE8-0115-43BD-AA9D-3C0A90C9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Efisien</a:t>
            </a:r>
          </a:p>
        </p:txBody>
      </p:sp>
      <p:sp>
        <p:nvSpPr>
          <p:cNvPr id="7" name="impact-copy-0">
            <a:extLst xmlns:a="http://schemas.openxmlformats.org/drawingml/2006/main">
              <a:ext uri="{FF2B5EF4-FFF2-40B4-BE49-F238E27FC236}">
                <a16:creationId xmlns:a16="http://schemas.microsoft.com/office/drawing/2014/main" id="{F49A9182-4F15-4DDE-A02B-B949A8FD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Proses administrasi lebih cepat.</a:t>
            </a:r>
          </a:p>
        </p:txBody>
      </p:sp>
      <p:sp>
        <p:nvSpPr>
          <p:cNvPr id="8" name="impact-divider-0">
            <a:extLst xmlns:a="http://schemas.openxmlformats.org/drawingml/2006/main">
              <a:ext uri="{FF2B5EF4-FFF2-40B4-BE49-F238E27FC236}">
                <a16:creationId xmlns:a16="http://schemas.microsoft.com/office/drawing/2014/main" id="{573BF287-2703-45F6-AFC5-9E0D737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pact-num-1">
            <a:extLst xmlns:a="http://schemas.openxmlformats.org/drawingml/2006/main">
              <a:ext uri="{FF2B5EF4-FFF2-40B4-BE49-F238E27FC236}">
                <a16:creationId xmlns:a16="http://schemas.microsoft.com/office/drawing/2014/main" id="{5FDDD182-8683-4DBE-9FEA-F0180D4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0" name="impact-title-1">
            <a:extLst xmlns:a="http://schemas.openxmlformats.org/drawingml/2006/main">
              <a:ext uri="{FF2B5EF4-FFF2-40B4-BE49-F238E27FC236}">
                <a16:creationId xmlns:a16="http://schemas.microsoft.com/office/drawing/2014/main" id="{48395B9F-628C-4833-A80D-3B519E9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Akurat</a:t>
            </a:r>
          </a:p>
        </p:txBody>
      </p:sp>
      <p:sp>
        <p:nvSpPr>
          <p:cNvPr id="11" name="impact-copy-1">
            <a:extLst xmlns:a="http://schemas.openxmlformats.org/drawingml/2006/main">
              <a:ext uri="{FF2B5EF4-FFF2-40B4-BE49-F238E27FC236}">
                <a16:creationId xmlns:a16="http://schemas.microsoft.com/office/drawing/2014/main" id="{22B7C83F-7F72-4946-80BA-5F9B8153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Nilai dan status peserta terukur.</a:t>
            </a:r>
          </a:p>
        </p:txBody>
      </p:sp>
      <p:sp>
        <p:nvSpPr>
          <p:cNvPr id="12" name="impact-divider-1">
            <a:extLst xmlns:a="http://schemas.openxmlformats.org/drawingml/2006/main">
              <a:ext uri="{FF2B5EF4-FFF2-40B4-BE49-F238E27FC236}">
                <a16:creationId xmlns:a16="http://schemas.microsoft.com/office/drawing/2014/main" id="{CF376326-1E2C-46CE-A903-DC2037C6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act-num-2">
            <a:extLst xmlns:a="http://schemas.openxmlformats.org/drawingml/2006/main">
              <a:ext uri="{FF2B5EF4-FFF2-40B4-BE49-F238E27FC236}">
                <a16:creationId xmlns:a16="http://schemas.microsoft.com/office/drawing/2014/main" id="{A2969020-9863-4063-B362-EBD33F0B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4" name="impact-title-2">
            <a:extLst xmlns:a="http://schemas.openxmlformats.org/drawingml/2006/main">
              <a:ext uri="{FF2B5EF4-FFF2-40B4-BE49-F238E27FC236}">
                <a16:creationId xmlns:a16="http://schemas.microsoft.com/office/drawing/2014/main" id="{C5C9123D-78C8-4A78-AD2A-98F738AC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Transparan</a:t>
            </a:r>
          </a:p>
        </p:txBody>
      </p:sp>
      <p:sp>
        <p:nvSpPr>
          <p:cNvPr id="15" name="impact-copy-2">
            <a:extLst xmlns:a="http://schemas.openxmlformats.org/drawingml/2006/main">
              <a:ext uri="{FF2B5EF4-FFF2-40B4-BE49-F238E27FC236}">
                <a16:creationId xmlns:a16="http://schemas.microsoft.com/office/drawing/2014/main" id="{6C6BAC62-F688-46E5-A412-2C3405DE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Progres peserta mudah dipantau.</a:t>
            </a:r>
          </a:p>
        </p:txBody>
      </p:sp>
      <p:sp>
        <p:nvSpPr>
          <p:cNvPr id="16" name="impact-divider-2">
            <a:extLst xmlns:a="http://schemas.openxmlformats.org/drawingml/2006/main">
              <a:ext uri="{FF2B5EF4-FFF2-40B4-BE49-F238E27FC236}">
                <a16:creationId xmlns:a16="http://schemas.microsoft.com/office/drawing/2014/main" id="{385A0771-F089-452A-8CA9-49450F5C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pact-num-3">
            <a:extLst xmlns:a="http://schemas.openxmlformats.org/drawingml/2006/main">
              <a:ext uri="{FF2B5EF4-FFF2-40B4-BE49-F238E27FC236}">
                <a16:creationId xmlns:a16="http://schemas.microsoft.com/office/drawing/2014/main" id="{1BE30E66-89BB-4712-B4A9-C037952F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18" name="impact-title-3">
            <a:extLst xmlns:a="http://schemas.openxmlformats.org/drawingml/2006/main">
              <a:ext uri="{FF2B5EF4-FFF2-40B4-BE49-F238E27FC236}">
                <a16:creationId xmlns:a16="http://schemas.microsoft.com/office/drawing/2014/main" id="{F7BFBCA8-C3E2-4582-BCBF-544E5257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Terdokumentasi</a:t>
            </a:r>
          </a:p>
        </p:txBody>
      </p:sp>
      <p:sp>
        <p:nvSpPr>
          <p:cNvPr id="19" name="impact-copy-3">
            <a:extLst xmlns:a="http://schemas.openxmlformats.org/drawingml/2006/main">
              <a:ext uri="{FF2B5EF4-FFF2-40B4-BE49-F238E27FC236}">
                <a16:creationId xmlns:a16="http://schemas.microsoft.com/office/drawing/2014/main" id="{0327D0F5-AD4E-44ED-8E16-66673C8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Hasil, evaluasi, sertifikat, dan surat tersimpan rapi.</a:t>
            </a:r>
          </a:p>
        </p:txBody>
      </p:sp>
      <p:sp>
        <p:nvSpPr>
          <p:cNvPr id="20" name="closing-surface">
            <a:extLst xmlns:a="http://schemas.openxmlformats.org/drawingml/2006/main">
              <a:ext uri="{FF2B5EF4-FFF2-40B4-BE49-F238E27FC236}">
                <a16:creationId xmlns:a16="http://schemas.microsoft.com/office/drawing/2014/main" id="{BBA9A35C-2E45-4563-932B-323A230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9525">
            <a:solidFill>
              <a:srgbClr val="5069D7"/>
            </a:solidFill>
            <a:prstDash val="solid"/>
          </a:ln>
        </p:spPr>
      </p:sp>
      <p:sp>
        <p:nvSpPr>
          <p:cNvPr id="21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B05D2C04-ECD6-4AB1-B37F-3879653C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Sistem Tes Pelatihan BDI Medan mendukung pelaksanaan pelatihan yang terstruktur, objektif, terdokumentasi, dan siap dikembangkan.</a:t>
            </a:r>
          </a:p>
        </p:txBody>
      </p:sp>
      <p:sp>
        <p:nvSpPr>
          <p:cNvPr id="22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4052D31-7547-48AB-900A-8031F362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CAD4F6"/>
                </a:solidFill>
                <a:latin typeface="Host Grotesk"/>
                <a:ea typeface="Host Grotesk"/>
                <a:cs typeface="Host Grotesk"/>
              </a:defRPr>
            </a:pPr>
            <a:r>
              <a:rPr sz="1050" b="0">
                <a:solidFill>
                  <a:srgbClr val="CAD4F6"/>
                </a:solidFill>
                <a:latin typeface="Host Grotesk"/>
                <a:ea typeface="Host Grotesk"/>
                <a:cs typeface="Host Grotesk"/>
              </a:rPr>
              <a:t>[Catatan: Tambahkan logo, nama narahubung, email, atau nomor kontak;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60476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2026-10-08T07:56:05.1000000Z</dcterms:created>
  <dcterms:modified xsi:type="dcterms:W3CDTF">2026-10-08T07:56:05.1010000Z</dcterms:modified>
</coreProperties>
</file>