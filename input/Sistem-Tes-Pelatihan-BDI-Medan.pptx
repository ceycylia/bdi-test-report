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ost Grotesk" panose="020B0604020202020204" charset="0"/>
      <p:regular r:id="rId13"/>
    </p:embeddedFont>
    <p:embeddedFont>
      <p:font typeface="Host Grotesk Bold" panose="020B0604020202020204" charset="0"/>
      <p:regular r:id="rId14"/>
    </p:embeddedFont>
    <p:embeddedFont>
      <p:font typeface="Host Grotesk SemiBold" panose="020B0604020202020204" charset="0"/>
      <p:regular r:id="rId15"/>
    </p:embeddedFont>
    <p:embeddedFont>
      <p:font typeface="Red Hat Mono SemiBold" panose="020B0604020202020204" charset="0"/>
      <p:regular r:id="rId16"/>
    </p:embeddedFont>
    <p:embeddedFont>
      <p:font typeface="Sofia Sans Extra Condensed Black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07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datang. Presentasi ini memaparkan rancangan Sistem Tes Pelatihan BDI Medan untuk mendigitalkan seluruh siklus evaluasi dan sertifikasi.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Bagan ini merangkum pergeseran dari proses konvensional yang manual menuju pipeline digital utuh dari pendaftaran hingga penerbitan sertifikat.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peserta dikunci ke angkatan masing-masing dengan validasi NIK sehingga data riwayat ujian dan sertifikasi selalu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Pengacakan soal menjamin integritas pengujian antar peserta tanpa menambah beban administrasi bagi instruktur.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dibuat seringkas mungkin agar peserta dari berbagai latar belakang dapat langsung mengerjakan ujian tanpa kendala teknis.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Penambahan durasi 7 menit tiap remedial memberi kesempatan adil bagi peserta tanpa membuka celah pengulangan tanpa batas.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log mencegah kecurangan nilai dan memastikan evaluasi mutu diklat memiliki rekam jejak formal yang siap diaudit.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Standarisasi otomatis menghapus kesalahan ketik nama, ketidaksesuaian nomor surat, dan penundaan pencetakan sertifikat.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menegaskan nilai strategis digitalisasi sistem pengujian BDI Medan menuju standar mutu pelatihan industri yang modern.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D3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501395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E83D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BALAI DIKLAT INDUSTRI MEDAN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1182" y="1992432"/>
            <a:ext cx="6299042" cy="181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1000"/>
              </a:lnSpc>
              <a:buNone/>
            </a:pPr>
            <a:r>
              <a:rPr lang="en-US" sz="8400" kern="100" spc="-42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SISTEM TES</a:t>
            </a:r>
            <a:endParaRPr lang="en-US" sz="8400" dirty="0"/>
          </a:p>
          <a:p>
            <a:pPr marL="0" indent="0" algn="l">
              <a:lnSpc>
                <a:spcPct val="71000"/>
              </a:lnSpc>
              <a:buNone/>
            </a:pPr>
            <a:r>
              <a:rPr lang="en-US" sz="8400" kern="100" spc="-42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PELATIHAN BDI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11182" y="3882560"/>
            <a:ext cx="6299042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Digitalisasi Pengelolaan Pelatihan, Tes, Evaluasi, dan Sertifikasi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82" y="4771946"/>
            <a:ext cx="629904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E83D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Tambahkan logo BDI dan foto kegiatan pelatihan; hapus catatan ini setelah selesai.]</a:t>
            </a:r>
            <a:endParaRPr lang="en-US" sz="180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16614" y="3019898"/>
            <a:ext cx="4267093" cy="1275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7109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TRANSFORMASI DIGITAL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160149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SATU SISTEM MENGHUBUNGKAN PROSES PELATIHAN DARI AWAL HINGGA SERTIFIKAT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2788940"/>
            <a:ext cx="5486263" cy="185410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03427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Masalah Operasional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3524865"/>
            <a:ext cx="5029074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Administrasi peserta masih manual; hasil tes sulit dipantau; remedial belum terstruktur; sertifikat membutuhkan waktu.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2788940"/>
            <a:ext cx="5486263" cy="185410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303427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7F62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Solusi Terpadu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76838" y="3524865"/>
            <a:ext cx="502907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Satu sistem terintegrasi mengelola seluruh proses dengan lebih tertib dan terdokumentasi.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189" y="4873546"/>
            <a:ext cx="1173450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ALUR KERJA TERPADU END-TO-END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189" y="5399306"/>
            <a:ext cx="1173450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Pelatihan → Peserta → Bank Soal → Tes → Hasil → Evaluasi → Sertifikat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MODUL ADMINISTRATOR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DASHBOARD ADMIN MENJADI PUSAT KENDALI PELATIHAN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930400"/>
            <a:ext cx="304792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377" y="1836737"/>
            <a:ext cx="585455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Program &amp; materi: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Membuat pelatihan, materi, angkatan, jumlah JPL, dan kode unit kompetensi.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2743200"/>
            <a:ext cx="304792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377" y="2649537"/>
            <a:ext cx="58545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Jadwal: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Mengatur jadwal Pre-Test dan Post-Test.</a:t>
            </a:r>
            <a:endParaRPr lang="en-US" sz="2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3225800"/>
            <a:ext cx="304792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377" y="3132137"/>
            <a:ext cx="585455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Monitoring: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Memantau pelatihan aktif dan aktivitas sistem.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57189" y="3935730"/>
            <a:ext cx="631174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Pilih screenshot Dashboard atau Pelatihan &amp; Materi; hapus catatan setelah selesai.]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7226119" y="1600200"/>
            <a:ext cx="4508387" cy="48006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2" name="Shape 7"/>
          <p:cNvSpPr/>
          <p:nvPr/>
        </p:nvSpPr>
        <p:spPr>
          <a:xfrm>
            <a:off x="7429314" y="1803400"/>
            <a:ext cx="4101997" cy="4394200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821" y="2038350"/>
            <a:ext cx="634984" cy="635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64258" y="2918680"/>
            <a:ext cx="36321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664258" y="3730546"/>
            <a:ext cx="363210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Tampilan Dashboard Admin &amp; Setup Diklat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MANAJEMEN PESERTA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DATA PESERTA DAN ANGKATAN TERSIMPAN TERPUSAT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845530"/>
            <a:ext cx="631174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Input Fleksibel &amp; Massal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2336125"/>
            <a:ext cx="63117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Tambah peserta secara manual atau melalui upload.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3105310"/>
            <a:ext cx="631174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Identitas Lengkap &amp; Status Angkatan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3595906"/>
            <a:ext cx="631174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Kelola nama, NIK, foto, pelatihan, angkatan, dan status aktif/nonaktif.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189" y="4662251"/>
            <a:ext cx="631174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Pencarian &amp; Filter Terarah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189" y="5152846"/>
            <a:ext cx="63117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Gunakan pencarian, filter, pagination, dan detail peserta.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189" y="5602407"/>
            <a:ext cx="631174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Gunakan contoh data yang sudah dianonimkan; hapus catatan setelah selesai.]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6119" y="1600200"/>
            <a:ext cx="4508387" cy="4823222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9314" y="1803400"/>
            <a:ext cx="4101997" cy="4416822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821" y="2869505"/>
            <a:ext cx="634984" cy="635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64258" y="3749835"/>
            <a:ext cx="36321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4258" y="4561701"/>
            <a:ext cx="363210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Tabel Manajemen Peserta &amp; Filter Angkatan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189" y="2853630"/>
            <a:ext cx="6311742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189" y="4410571"/>
            <a:ext cx="6311742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EVALUASI KOMPETENSI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BANK SOAL MEMBENTUK PAKET UJIAN SECARA FLEKSIBEL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708249"/>
            <a:ext cx="609585" cy="609600"/>
          </a:xfrm>
          <a:prstGeom prst="roundRect">
            <a:avLst>
              <a:gd name="adj" fmla="val 6250"/>
            </a:avLst>
          </a:prstGeom>
          <a:solidFill>
            <a:srgbClr val="1D3BE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4" y="1898749"/>
            <a:ext cx="228594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486979"/>
            <a:ext cx="1577936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Struktur Berbasis Materi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189" y="3620115"/>
            <a:ext cx="1577936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Penyimpanan butir soal dikelompokkan menurut unit kompetensi dan materi ajar spesifik.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035124" y="1708249"/>
            <a:ext cx="609585" cy="609600"/>
          </a:xfrm>
          <a:prstGeom prst="roundRect">
            <a:avLst>
              <a:gd name="adj" fmla="val 6250"/>
            </a:avLst>
          </a:prstGeom>
          <a:solidFill>
            <a:srgbClr val="1D3BE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619" y="1898749"/>
            <a:ext cx="228594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35124" y="2486979"/>
            <a:ext cx="1577936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Editor Lengkap &amp; Gambar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035124" y="3620115"/>
            <a:ext cx="1577936" cy="267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Kemudahan tambah, edit, hapus, import massal, serta dukungan penyisipan gambar teknis pada butir soal.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613060" y="1708249"/>
            <a:ext cx="609585" cy="609600"/>
          </a:xfrm>
          <a:prstGeom prst="roundRect">
            <a:avLst>
              <a:gd name="adj" fmla="val 6250"/>
            </a:avLst>
          </a:prstGeom>
          <a:solidFill>
            <a:srgbClr val="1D3BE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555" y="1898749"/>
            <a:ext cx="228594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13060" y="2486979"/>
            <a:ext cx="1577936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Generate Paket Acak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613060" y="3298845"/>
            <a:ext cx="1577936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Sistem merakit paket ujian secara otomatis dan acak sesuai proporsi bobot materi yang ditentukan.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190995" y="1708249"/>
            <a:ext cx="609585" cy="609600"/>
          </a:xfrm>
          <a:prstGeom prst="roundRect">
            <a:avLst>
              <a:gd name="adj" fmla="val 6250"/>
            </a:avLst>
          </a:prstGeom>
          <a:solidFill>
            <a:srgbClr val="1D3BE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490" y="1898749"/>
            <a:ext cx="228594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90995" y="2486979"/>
            <a:ext cx="1577936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Preview &amp; Unduh Dokumen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5190995" y="3620115"/>
            <a:ext cx="1577936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Pratinjau naskah soal dan opsi cetak/unduh arsip paket tes untuk dokumentasi arsip BDI.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226119" y="1600200"/>
            <a:ext cx="4508387" cy="48006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1" name="Shape 15"/>
          <p:cNvSpPr/>
          <p:nvPr/>
        </p:nvSpPr>
        <p:spPr>
          <a:xfrm>
            <a:off x="7429314" y="1803400"/>
            <a:ext cx="4101997" cy="4394200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821" y="2921695"/>
            <a:ext cx="634984" cy="635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64258" y="3675024"/>
            <a:ext cx="36321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664258" y="4486890"/>
            <a:ext cx="363210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Halaman Bank Soal &amp; Konfigurasi Paket Ujian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2028774" y="1632049"/>
            <a:ext cx="12700" cy="4736802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6" name="Shape 19"/>
          <p:cNvSpPr/>
          <p:nvPr/>
        </p:nvSpPr>
        <p:spPr>
          <a:xfrm>
            <a:off x="3606710" y="1632049"/>
            <a:ext cx="12700" cy="4736802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7" name="Shape 20"/>
          <p:cNvSpPr/>
          <p:nvPr/>
        </p:nvSpPr>
        <p:spPr>
          <a:xfrm>
            <a:off x="5184645" y="1632049"/>
            <a:ext cx="12700" cy="4736802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PENGALAMAN PESERTA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PESERTA MENGIKUTI ALUR TES YANG SEDERHANA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6081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Peserta mengerjakan tes melalui tautan pelatihan secara mandiri.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1590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5146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702780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Isi Nama dan NIK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73591" y="21590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3591" y="25146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0" name="Text 8"/>
          <p:cNvSpPr/>
          <p:nvPr/>
        </p:nvSpPr>
        <p:spPr>
          <a:xfrm>
            <a:off x="2773591" y="27027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Pre-Test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89993" y="21590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9993" y="25146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3" name="Text 11"/>
          <p:cNvSpPr/>
          <p:nvPr/>
        </p:nvSpPr>
        <p:spPr>
          <a:xfrm>
            <a:off x="5089993" y="2702780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Materi Pelatihan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395" y="21590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06395" y="25146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395" y="27027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Post-Test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22797" y="21590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722797" y="25146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9" name="Text 17"/>
          <p:cNvSpPr/>
          <p:nvPr/>
        </p:nvSpPr>
        <p:spPr>
          <a:xfrm>
            <a:off x="9722797" y="27027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Hasil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189" y="4021534"/>
            <a:ext cx="11277318" cy="2379266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355" y="4205684"/>
            <a:ext cx="634984" cy="635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113209" y="4984414"/>
            <a:ext cx="1090902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623577" y="5475010"/>
            <a:ext cx="294454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Halaman Ujian Peserta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12383" y="5921395"/>
            <a:ext cx="109221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Tambahkan screenshot halaman peserta atau halaman soal; hapus catatan setelah selesai.]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STANDAR KELULUSAN &amp; REMEDIAL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3128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NILAI, REMEDIAL, DAN MONITORING HASIL BERJALAN DALAM SATU ALUR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553785"/>
            <a:ext cx="613136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LOGIKA KELULUSAN &amp; REMEDIAL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1998266"/>
            <a:ext cx="6131367" cy="84832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2127171"/>
            <a:ext cx="572497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Jalur Kelulusan Langsung: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Post-Test → Skor ≥ Passing Grade → </a:t>
            </a:r>
            <a:r>
              <a:rPr lang="en-US" sz="1800" b="1" dirty="0">
                <a:solidFill>
                  <a:srgbClr val="0A7F62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Lulus (Selesai)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189" y="2998986"/>
            <a:ext cx="6131367" cy="84832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8" name="Text 6"/>
          <p:cNvSpPr/>
          <p:nvPr/>
        </p:nvSpPr>
        <p:spPr>
          <a:xfrm>
            <a:off x="660383" y="3127891"/>
            <a:ext cx="572497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Jalur Remedial Bertahap: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Post-Test (&lt; Passing Grade) → </a:t>
            </a: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Remedial 1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Remedial 2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Tes Diakhiri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3996531"/>
          <a:ext cx="6131367" cy="914400"/>
        </p:xfrm>
        <a:graphic>
          <a:graphicData uri="http://schemas.openxmlformats.org/drawingml/2006/table">
            <a:tbl>
              <a:tblPr/>
              <a:tblGrid>
                <a:gridCol w="275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Aturan Waktu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Awal 7 menit; tiap remedial menambah 7 menit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Batas Remedial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Maksimal 2 kali pengulangan tes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Passing Grade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Dapat dikonfigurasi per jenis pelatihan</a:t>
                      </a:r>
                      <a:endParaRPr lang="en-US" sz="18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045645" y="1551880"/>
            <a:ext cx="4688862" cy="4862612"/>
          </a:xfrm>
          <a:prstGeom prst="rect">
            <a:avLst/>
          </a:prstGeom>
          <a:solidFill>
            <a:srgbClr val="F1F4FD"/>
          </a:solidFill>
          <a:ln w="6350">
            <a:solidFill>
              <a:srgbClr val="C9D3F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534" y="3052266"/>
            <a:ext cx="634984" cy="63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7487" y="3830996"/>
            <a:ext cx="426977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255190" y="4321592"/>
            <a:ext cx="42697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Monitoring Nilai: Pre, Post, Remedial 1, Remedial 2, dan Nilai Akhir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AKUNTABILITAS &amp; PENJAMINAN MUTU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EVALUASI DAN KOREKSI NILAI TETAP TERDOKUMENTASI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828800"/>
            <a:ext cx="507987" cy="50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74" y="1828800"/>
            <a:ext cx="507987" cy="50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189" y="2502755"/>
            <a:ext cx="309366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Evaluasi &amp; Monitoring Respons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189" y="3314621"/>
            <a:ext cx="3093662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Buat template dan jadwal evaluasi instruktur, kurikulum, serta fasilitas. Pantau respons peserta secara transparan sebelum sertifikat diterbitkan.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643" y="1828800"/>
            <a:ext cx="507987" cy="5080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528" y="1828800"/>
            <a:ext cx="507987" cy="508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855643" y="2502755"/>
            <a:ext cx="309366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Koreksi Nilai &amp; Audit Log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3855643" y="3314621"/>
            <a:ext cx="3093662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Koreksi skor untuk force majeure atau ujian susulan dengan persetujuan pimpinan. Log tidak terhapus; tiap perubahan mencatat identitas editor, waktu, dan alasan.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57189" y="5543967"/>
            <a:ext cx="64921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Tambahkan screenshot Evaluasi atau modal koreksi nilai; hapus catatan setelah selesai.]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7406395" y="1600200"/>
            <a:ext cx="4328111" cy="4764782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4" name="Shape 8"/>
          <p:cNvSpPr/>
          <p:nvPr/>
        </p:nvSpPr>
        <p:spPr>
          <a:xfrm>
            <a:off x="7609590" y="1803400"/>
            <a:ext cx="3921721" cy="2652911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2909" y="2038350"/>
            <a:ext cx="634984" cy="635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44534" y="2817080"/>
            <a:ext cx="345183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844534" y="3628946"/>
            <a:ext cx="34518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Tampilan Kuesioner &amp; Modal Audit Log Koreksi Nilai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OUTPUT DOKUMEN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SERTIFIKAT DAN SURAT KETERANGAN TERBIT LEBIH KONSISTEN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828800"/>
            <a:ext cx="6492117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 sertifikat dan surat keterangan.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Nama peserta ditulis dalam huruf kapital.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Tanggal penerbitan mengikuti tanggal terakhir pelatihan.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Tampilkan unit kompetensi dan kode unit kompetensi.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Nomor sertifikat dan surat diterapkan otomatis secara berurutan.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4875530"/>
            <a:ext cx="64921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Tambahkan contoh desain sertifikat atau surat; hapus catatan setelah selesai.]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395" y="1600200"/>
            <a:ext cx="4328111" cy="48006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7" name="Shape 5"/>
          <p:cNvSpPr/>
          <p:nvPr/>
        </p:nvSpPr>
        <p:spPr>
          <a:xfrm>
            <a:off x="7609590" y="1803400"/>
            <a:ext cx="3921721" cy="4394200"/>
          </a:xfrm>
          <a:prstGeom prst="rect">
            <a:avLst/>
          </a:prstGeom>
          <a:noFill/>
          <a:ln w="6350">
            <a:solidFill>
              <a:srgbClr val="C9D3F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909" y="2038350"/>
            <a:ext cx="634984" cy="635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44534" y="2918680"/>
            <a:ext cx="345183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[Masukkan Screenshot Sistem]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44534" y="3730546"/>
            <a:ext cx="34518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Preview Cetak Sertifikat &amp; Surat Keterangan Resmi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7867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E83D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KESIMPULAN &amp; DAMPAK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1109067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LEBIH EFISIEN, AKURAT, TRANSPARAN, DAN TERDOKUMENTASI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813917"/>
            <a:ext cx="2590735" cy="2334220"/>
          </a:xfrm>
          <a:prstGeom prst="roundRect">
            <a:avLst>
              <a:gd name="adj" fmla="val 1632"/>
            </a:avLst>
          </a:prstGeom>
          <a:noFill/>
          <a:ln w="25399">
            <a:solidFill>
              <a:srgbClr val="B8BE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182" y="2084647"/>
            <a:ext cx="20827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Efisien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1182" y="2581275"/>
            <a:ext cx="208274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Proses administrasi lebih cepat.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52716" y="1813917"/>
            <a:ext cx="2590735" cy="2334220"/>
          </a:xfrm>
          <a:prstGeom prst="roundRect">
            <a:avLst>
              <a:gd name="adj" fmla="val 1632"/>
            </a:avLst>
          </a:prstGeom>
          <a:noFill/>
          <a:ln w="25399">
            <a:solidFill>
              <a:srgbClr val="B8BE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6710" y="2084647"/>
            <a:ext cx="20827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Akurat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06710" y="2581275"/>
            <a:ext cx="208274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Nilai dan status peserta terukur.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8244" y="1813917"/>
            <a:ext cx="2590735" cy="2334220"/>
          </a:xfrm>
          <a:prstGeom prst="roundRect">
            <a:avLst>
              <a:gd name="adj" fmla="val 1632"/>
            </a:avLst>
          </a:prstGeom>
          <a:noFill/>
          <a:ln w="25399">
            <a:solidFill>
              <a:srgbClr val="B8BE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2237" y="2084647"/>
            <a:ext cx="20827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Transparan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2237" y="2581275"/>
            <a:ext cx="208274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Progres peserta mudah dipantau.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3771" y="1813917"/>
            <a:ext cx="2590735" cy="2334220"/>
          </a:xfrm>
          <a:prstGeom prst="roundRect">
            <a:avLst>
              <a:gd name="adj" fmla="val 1632"/>
            </a:avLst>
          </a:prstGeom>
          <a:noFill/>
          <a:ln w="25399">
            <a:solidFill>
              <a:srgbClr val="B8BE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7765" y="2084647"/>
            <a:ext cx="20827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Terdokumentasi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97765" y="2581275"/>
            <a:ext cx="2082748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Hasil, evaluasi, sertifikat, dan surat tersimpan rapi.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4376738"/>
            <a:ext cx="11277318" cy="1810345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6582" y="4587875"/>
            <a:ext cx="1071853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Sistem Tes Pelatihan BDI Medan</a:t>
            </a: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mendukung pelaksanaan pelatihan yang terstruktur, objektif, terdokumentasi, dan siap dikembangkan.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6582" y="5391468"/>
            <a:ext cx="1071853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C9D3F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[Catatan: Tambahkan logo, nama narahubung, email, atau nomor kontak; hapus catatan setelah selesai.]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921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Red Hat Mono SemiBold</vt:lpstr>
      <vt:lpstr>Sofia Sans Extra Condensed Black</vt:lpstr>
      <vt:lpstr>Host Grotesk SemiBold</vt:lpstr>
      <vt:lpstr>Arial</vt:lpstr>
      <vt:lpstr>Host Grotesk</vt:lpstr>
      <vt:lpstr>Host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asus asus</cp:lastModifiedBy>
  <cp:revision>2</cp:revision>
  <dcterms:created xsi:type="dcterms:W3CDTF">2026-10-08T07:26:22Z</dcterms:created>
  <dcterms:modified xsi:type="dcterms:W3CDTF">2026-10-08T07:33:45Z</dcterms:modified>
</cp:coreProperties>
</file>